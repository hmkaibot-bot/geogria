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封面：Gergeti 三一教堂同 Kazbek 山，行程第 5 日會騎上去。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每格一個階段，相片全部係真實 Creative Commons 授權相，來源見最後一頁。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18:30　到香港機場 · check-in
21:30　CX 733 起飛 香港 → 吉隆坡
01:30+1　到吉隆坡 KLIA（已經係 26/9 凌晨）
晚：[平] 機上餐（—）
提醒：✅ HK⇄KL 機票已訂（CX733／CX724）· 同 Qatar 段係兩張唔同機票　|　⚠️ 01:30 先到 KL — 26/9 嘅住宿（25–26/9 嗰晚）覆蓋到，但一定要提前同「Unique Home」WhatsApp 約定夜間自助 check-in 密碼，唔係 03:00 冇人開門
路線連結：https://www.google.com/maps/dir/?api=1&amp;origin=2.74560,101.70990&amp;destination=3.15153,101.71996&amp;travelmode=driving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01:30　CX733 落地 KLIA · 入境取行李
02:15　Grab 入城（夜晚冇塞車，45 分鐘，RM75–110）— ⚠️KLIA Ekspres 首班約 05:00，等唔到
03:00　到 Eaton Residences · 自助 check-in（密碼／lockbox，要預先 WhatsApp 約定）
09:30　瞓醒 · 附近早餐
11:00　雙子塔 Skybridge + L86（步行 18–20 分鐘或 Grab · 要預先網上訂時段）
12:00　Check-out（11:00–12:00，睇 operator）⚠️冇行李寄存
12:30　去 KL Sentral 放行李入 Dr. Locker 自動櫃（MRT Conlay 站行 5 分鐘上車）
13:30　午餐
14:30　伊斯蘭藝術博物館 IAMM（RM20 · 冷氣）— 唔想去博物館？落雨→BSAS 蘇丹阿都沙末大樓展廳（2026/2 重開，免費）；好天→天后宮（免費，望全城）或 Kampung Baru 馬來村食街
16:30　唐人街／中央市場（近 KL Sentral，可避雨）
17:15　早晚餐（茨廠街一帶，最近 KL Sentral）
18:15　取行李 → KLIA Ekspres（RM55 · 28 分鐘）
18:50　到 KLIA Terminal 1（Qatar 用 T1）
21:50　QR 855 起飛 → 多哈 23:55
早：[平] Kompleks Kraf 攤檔（Jalan Conlay，09:00 起）（RM10–20）；[平] Suria KLCC Signatures 美食廣場（RM5–25）；[平] 便利店（7-Eleven／FamilyMart，Jalan Conlay）（RM10–15）
午：[平] Lot 10 Hutong 小販集中地（Bukit Bintang）（RM20–35）；[平] Sri Nirwana Maju 香蕉葉飯（Bangsar）（RM15–28）；[中] Madam Kwan's（Suria KLCC）（RM40–70）
晚：[平] 茨廠街／唐人街大排檔（最近 KL Sentral）（RM15–30）；[平] Jalan Alor 食街（由 Eaton 行 24 分鐘）（RM25–45）；[中] KLIA T1 Food Garden／翡翠拉麵（RM40–80 · 最穩陣）
景點：雙子塔 Skybridge + L86（3.1578, 101.7117）；伊斯蘭藝術博物館 IAMM（3.1420, 101.6889）；BSAS 蘇丹阿都沙末大樓 + 獨立廣場 + Masjid Jamek（落雨首選）（3.1483, 101.6942）；天后宮 Thean Hou Temple（好天首選）（3.1218, 101.6876）；Kampung Baru 馬來村 + Saloma Link（3.1600, 101.7135）；Muzium Negara 國家博物館（落雨後備）（3.1376, 101.6873）；Merdeka 118 觀景台 The View at 118（3.1416, 101.7011）；唐人街／中央市場／鬼仔巷（3.1444, 101.6980）；吉隆坡塔 KL Tower（3.1528, 101.7038）；黑風洞 Batu Caves（3.2379, 101.6840）；獨立廣場 + 蘇丹阿都沙末樓（3.1478, 101.6935）
提醒：⚠️ 01:30 到、03:00 先瞓 — 呢日已經按「攰」重排：唔安排黑風洞，改行市區冷氣路線　|　⚠️ Eaton 冇前台冇行李寄存 — 12:00 退房後用 KL Sentral Dr. Locker 自動櫃　|　⚠️ KL Sentral 市區預辦登機唔包 Qatar Airways — 唔好諗住喺市區寄艙　|　硬死線：21:50 起飛 → 18:50 到 T1 → 17:15 前要坐低食飯　|　Qatar 用 KLIA Terminal 1（唔係 T2）
路線連結：https://www.google.com/maps/dir/?api=1&amp;origin=3.15153,101.71996&amp;destination=2.74560,101.70990&amp;waypoints=3.15785,101.71170%7C3.15153,101.71996%7C3.13440,101.68650%7C3.14200,101.68890%7C3.14440,101.69800%7C3.13440,101.68650&amp;travelmode=driving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00:30　到 Souq Al Wakra Hotel by Tivoli，check-in（酒店建議 00:00–01:00 到）· 瞓 2.5 小時（港時 06:00，唔算慘）
03:45　🏜 沙漠內海日出團：酒店門口上 4x4（⚠️要訂，見預約清單；Al Wakra 就喺去 Sealine 嘅路上）
04:30　Sealine 沙漠入口放氣 → 上沙丘等 05:25 日出（全日最涼 30°C）
05:30　Dune bashing → Khor Al Adaid 內海（沙丘直插海，對岸沙特）· 影相／落水
08:15　離開 Sealine（硬性，之後 35°C+）→ 09:00 返酒店沖涼、補眠
11:15　的士／Uber 出市區（約 16 km，20 分鐘）⚠️之後一次過留喺市區，唔好返嚟又出
12:00　到 NMoQ，先行館內一陣
13:00　✅ Jiwan @ NMoQ 午餐（已訂 13:00 · 2 位）
14:30　卡塔爾國家博物館 NMoQ（沙漠玫瑰，正午嘆冷氣）
16:00　伊斯蘭藝術博物館 MIA（貝聿銘封刀作，開到 19:00）— 的士 5 分鐘
17:30　MIA Park + Corniche 黃昏／dhow 木船（日落 + 藍調時分天際線）
18:30　Souq Waqif 老市集（黃昏先開始旺）
19:30　Souq Waqif 晚餐 + 水煙
早：[平] Al Wakra 老市集 karak + manakish（最抵）（QAR 10–25 · 本地人做法）；[中] 酒店 Jarnen 自助早餐（07:00–10:30）（QAR 90–130 · ⚠️冇公佈價，check-in 時問清楚）
午：[平] MIA Café（Starck 中庭）（QAR 45–75 · 要博物館票）；[中] ✅ Jiwan @ NMoQ set lunch（已訂 13:00）（QAR 100 · 米芝蓮必比登）；[貴] IDAM by Alain Ducasse @ MIA（QAR 250 四道菜 · 米芝蓮一星 · 必訂）
晚：[平] Turkey Central 燒烤（QAR 60–95）；[中] Damasca One（Souq Waqif 路口）（QAR 120–170 · 敘利亞 mezze）；[貴] Nobu Doha @ Four Seasons（QAR 250–450 · 唯一可飲酒）
景點：伊斯蘭藝術博物館 MIA（25.2952, 51.5397）；卡塔爾國家博物館 NMoQ（25.2867, 51.5514）；Souq Waqif 老市集（25.2870, 51.5333）；Corniche 海濱 + dhow 木船（25.2930, 51.5310）；🏜 Khor Al Adaid 沙漠內海（日出團）（24.6300, 51.3600）；Al Wakra 老市集 + 海灘（25.1738, 51.6104）；卡塔爾國家圖書館（25.3160, 51.4390）；Katara 文化村（25.3595, 51.5250）
提醒：🏜 沙漠團係「飛機唔受影響」嘅一日：團 09:00 完、午餐 13:00，困車 1–2 小時都趕到；唔好放喺 28/9（飛機日）　|　⚠️ 酒店喺 Al Wakra，離市中心約 16–20km（20–30 分鐘車） — 沙漠團後一次過入市區，唔好再來回　|　⚠️ 全酒店同 Al Wakra 都禁酒 — 想飲嘢要喺多哈市區持牌酒店　|　9月尾 38–39°C、濕度62% → 朝早戶外、正午室內、17:00 後先再出街　|　酒店係 Room Only，早餐要另付 — 或者去 Al Wakra 老市集食　|　卡塔爾週末係五、六 → 星期日係正常工作日，博物館照開　|　⚠️ Al Wakrah 博物館／Abdulrahman bin Jassim 堡壘維修中閂咗 — 唔好 plan
路線連結：https://www.google.com/maps/dir/?api=1&amp;origin=25.17381,51.61045&amp;destination=25.17381,51.61045&amp;waypoints=24.91300,51.54500%7C25.17381,51.61045%7C25.28670,51.55140%7C25.29520,51.53970%7C25.28700,51.53330&amp;travelmode=driving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08:00　早餐
09:00　Msheireb 博物館（免費，四間老宅，逢日休所以今朝啱）或 Al Wakra 老市集散步
11:45　返酒店執嘢
12:00　Check-out（酒店標準 12:00 · 前一晚問下可唔可以延到 13:00）
12:15　去 DOH 機場 ⚠️唔好等到 14:00（Qatar 14:30 閂櫃）
12:45　到 Hamad International（12:30 開始收行李 · 機場本身都值得行）
15:30　QR 253 起飛
20:10　到第比利斯 TBS → Magti SIM（15 GEL/5GB）→ ATM 撳 500 GEL
21:00　Bolt 入城（25–35 GEL，30–40 分鐘）
21:45　Check-in Pura Vida ⚠️前台官方 19:00 收，一定要書面確認夜到 · 順手辦埋取車手續／放低唔騎車嘅行李
早：[平] 酒店／Al Wakra 老市集（QAR 30–60）
午：[平] Chapati &amp; Karak（機場）（QAR 25–50）；[中] Basta @ Souq Al Matar（機場內傳統市集）（QAR 60–120）；[貴] Le Grand Comptoir 法式（有酒）／Al Maha Lounge 3小時 QAR 160（QAR 150–300）
晚：[平] Tbilisi Mall 美食廣場（離酒店 4–5 分鐘車，開到約 22:00）（20–40 GEL · ⚠️最實際）；[平] 機場食飽先走（—）；[中] 叫酒店留飯（要提前講）（—）
景點：Msheireb 博物館（四間老宅）（25.2870, 51.5250）；Al Wakra 老市集朝早（25.1667, 51.6033）；Hamad International 機場（25.2609, 51.6138）
提醒：⚠️ Pura Vida 喺西北郊 Digomi，唔係市中心 — 20:10 落機 → 約 21:15 先到，當晚冇舊城晚餐可言，喺機場或 Tbilisi Mall 解決　|　⚠️ 前台官方 19:00 收工 — 出發前書面確認夜到 check-in　|　⚠️ Bolt 叫車搜 「Camp Hotel Pura Vida」（搜 boutique 個名可能搵唔到）　|　落機即刻買 SIM + 撳現金（Ushguli 之後要用現金）
路線連結：https://www.google.com/maps/dir/?api=1&amp;origin=25.17381,51.61045&amp;destination=25.26090,51.61380&amp;waypoints=25.28700,51.52500%7C25.17381,51.61045&amp;travelmode=driving | https://www.google.com/maps/dir/?api=1&amp;origin=41.66920,44.95470&amp;destination=41.78000,44.74000&amp;travelmode=driving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08:45　✅ 唔使轉場 — 電單車就喺酒店樓下（SLAVATOUR 基地）
09:00　取車：逐格拍片、簽約、€850×2 押金、裝軟袋、確認車牌／文件
09:45　北上（Mtskheta 順路）
10:15　Jvari 修道院（山頂，免費，20分）
10:50　Svetitskhoveli 大教堂（免費，30分，長褲／女頭巾）
11:45　軍事公路北上
12:15　Ananuri 城堡（免費，45分，塔樓睇碧綠水庫）
13:15　Pasanauri 午餐（Korbuda，khinkali 發源地）
14:30　Gudauri 入油 + 俄格友誼紀念碑
15:15　過 Jvari 山口 2,379m（雪崩廊道：開大燈、除太陽眼鏡）
16:00　到 Stepantsminda，check-in
16:45　騎上 Gergeti 聖三一教堂（6km 鋪裝髮夾彎，黃昏金光）
19:15　的士去 Gergeti 村（2km · 5 分鐘）— check-in 時即刻叫酒店幫手約本地司機，來回同一個人一次過講定 20–40 GEL（鎮內開價 10–12 GEL/程；Bolt 喺 Kazbegi 車極少，唔好靠）· 日落 18:48，19:15 已天黑
19:30　✅ Maisi 晚餐（已訂 19:30–21:00 · 2 位）
21:00　司機 21:00 返嚟接（後備：叫 Maisi 職員幫手打電話搵車，☎+995 593 06 02 20）· ⚠️回程全黑、冇街燈資料、有 4x4 同狗，唔好行路
早：[平] Pura Vida 酒店早餐（已包）
午：[平] Korbuda（Pasanauri）khinkali 發源地（25–40 GEL · 09:30–22:30）；[中] Restaurant Ananuri（露台望水庫）（35–60 GEL）；[中] Tsanareti（Arsha，離 Kazbegi 10km）（35–55 GEL · 煙燻山豬肉）
晚：[平] Qondari（30–50 GEL · chvishtari 芝士粟米包）；[中] Tiba（落地玻璃望教堂）（40–65 GEL）；[貴] ✅ Maisi（18 Betlemi St, Gergeti）已訂 19:30（100+ GEL · 逢三休）；[貴] The Kitchen @ Rooms（全國最靚餐廳景）（70–110 GEL · 非住客唔收訂位）
景點：Jvari 修道院（41.8383, 44.7328）；Svetitskhoveli 大教堂（41.8419, 44.7206）；Ananuri 城堡（42.1631, 44.7028）；俄格友誼紀念碑（42.4906, 44.4531）；Gergeti 聖三一教堂（42.6625, 44.6203）；Zhinvali 水庫觀景（42.1400, 44.7100）
提醒：車行 09:00 先開（appointment only）— 今晚 WhatsApp 問可唔可以 08:00 特早　|　雪崩廊道無燈濕滑，同貨車共用 → 開大燈、除太陽眼鏡、保持距離　|　山口清晨 0–5°C — 著返夠　|　✅ Landscapes Hotel 喺鎮內 — 食飯行路去，唔使騎夜路；去 Maisi 坐的士（唔好騎，飲咗酒 0.03% 限值）　|　🍺 Maisi 19:30 或 21:00 場都得 — 酒店 2km，的士 5 分鐘
路線連結：https://www.google.com/maps/dir/?api=1&amp;origin=41.78000,44.74000&amp;destination=42.65506,44.64829&amp;waypoints=41.83830,44.73280%7C41.84190,44.72060%7C42.16310,44.70280%7C42.34890,44.68220%7C42.47830,44.47830%7C42.49060,44.45310%7C42.65506,44.64829%7C42.66250,44.62030&amp;travelmode=driv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07:30　Gergeti 教堂黎明版（Kazbek 朝早最清，而且冇人）— 尋日冇上就今朝補
09:00　早餐（連住兩晚，行李唔使收）
10:00　Truso 山谷（碎石路 · 鈣華梯田 · 廢村 · Zakagori 要塞）— 帶實體護照
14:00　返鎮午餐
15:00　Dariali 峽谷 + Gveleti 瀑布 + 修道院（向俄邊境 12km）
17:00　返酒店休息 · 露台睇 Kazbek 黃昏
19:00　行路去晚餐 Tiba（6 分）／Stancia（12 分）／Rooms The Kitchen（7 分，18:30 早到 walk-in）· Maisi 今日休
早：[平] Tiba（09:00 開，syrniki 芝士煎餅）（20–35 GEL）；[中] Rooms 自助早餐（08:00 全鎮最早）（45–60 GEL）
午：[平] 自備乾糧（Truso 上面完全冇餐廳）（10–20 GEL · 鎮上買 shoti + sulguni + 番茄）；[平] Cafe Monastery（Dariali）修士自製芝士（25–40 GEL）；[中] Qondari（返鎮晏午餐）（30–50 GEL）
晚：[平] 酒店 BBQ 爐自己燒（可選，買餸 ~30 GEL 兩人）（最慳 · 鎮上小超市買餸）；[平] Stancia（Kazbegi 廣場，開到 23:00）（30–50 GEL）；[中] Tiba（週三最好嘅廚房）（40–65 GEL · 21:00 後收廚）；[貴] The Kitchen @ Rooms（開到 24:00）（70–110 GEL）
景點：Gergeti 教堂（黎明）（42.6625, 44.6203）；Truso 山谷（42.6116, 44.3740）；Dariali 峽谷 + Gveleti 瀑布（42.7350, 44.6260）；Sno 山谷巨石頭像 + 要塞（42.5800, 44.6100）；Juta / Chaukhi（42.5500, 44.7300）；Alexander Kazbegi 故居館（42.6570, 44.6420）
提醒：Maisi 逢星期三休 → 今晚改 Tiba／Stancia／Rooms　|　Truso 同 Dariali 都近邊境 → 一定要帶實體護照（唔係影相）　|　💡 Rooms Kazbegi 嘅 The Kitchen 非住客唔收訂位 — 想去睇個景就 18:30 早到 walk-in
路線連結：https://www.google.com/maps/dir/?api=1&amp;origin=42.65506,44.64829&amp;destination=42.65506,44.64829&amp;waypoints=42.66250,44.62030%7C42.61163,44.37398%7C42.73500,44.62600&amp;travelmode=driving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08:00　早餐（Maisi 早餐週四開，同一廚房三分一價錢）
09:00　落軍事公路（落山視角完全唔同）
11:30　繞第比利斯外環（唔入城）
12:30　Gombori 山口（森林連續髮夾彎，全程最正騎行之一）
14:00　到 Schuchmann 酒莊 check-in（14:00 開始）
15:00　酒窖 tour + qvevri 品酒（埋地陶罐）
16:30　泳池／露台休息，換衫
18:00　✅ 酒浴 Wine SPA（已訂 18:00–19:00）
19:30　Wine tasting &amp; Dinner Experience（已包喺房價 · ⚠️同酒莊講 SPA 後 19:30 先開餐）
早：[平] Tiba（Kazbegi）（20–35 GEL）；[貴] Maisi 早餐（週四開）（20–30 GEL · 全程最抵嘅一餐）
午：[平] Korbuda（Pasanauri）— 早食，Gombori 山口冇嘢（25–40 GEL）；[中] Chateau Mere（Telavi，露台望大高加索）（50–80 GEL）
晚：[貴] Schuchmann 酒莊晚餐（已包喺房價）（已付 · 露台望葡萄園日落）
景點：Gombori 山口（條路本身）（41.8000, 45.2500）；Schuchmann 酒窖 tour（41.8700, 45.5200）；Tsinandali 莊園（41.8917, 45.5722）；Alaverdi 大教堂（41.9750, 45.3750）；Batonis Tsikhe 要塞（Telavi）（41.9192, 45.4736）；900年懸鈴木（Telavi）（41.9180, 45.4750）
提醒：今晚車泊定，可以放心飲（酒莊住宿最大好處）　|　格魯吉亞酒駕 0.03%（≈一杯已中），罰 700 GEL 起　|　酒浴 SPA 要提前另約：schuchmann-wines.com/hotel/wine-spa/wine-spa-reservation/ 或 +995 598 656 306
路線連結：https://www.google.com/maps/dir/?api=1&amp;origin=42.65506,44.64829&amp;destination=41.87000,45.52000&amp;waypoints=41.80208,44.87401%7C41.68605,45.04916%7C41.86430,45.27930&amp;travelmode=driving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07:45　酒莊早餐（已包）· 今日 ~365km，食飽佢
08:30　出發 → 第比利斯外環 → E60 西行（⚠️Kisiskhevi→Gori 實際 ~190 km，3 小時以上）
11:45　Gori 史太林博物館（1小時）
12:45　Gori 午餐
13:30　Uplistsikhe 石窟城（1.5 小時，著防滑鞋）
15:15　E60 西行（⚠️ 區間測速，唔好偷雞）
17:30　到 Kutaisi，check-in AUTOGRAPH（14:00 後可入住）
18:00　Bagrati 大教堂睇日落（免費）
19:30　✅ Palaty 晚餐（已訂 19:30） — 歌劇院對面 · AUTOGRAPH 行 23 分或 Bolt 3–4 GEL
早：[貴] Schuchmann 酒莊自助（已包）（已付）
午：[平] Chinebuli（史太林博物館對面）（20–30 GEL · 零繞路）；[平] Cafe 22（Stalin St 22）（15–25 GEL）；[中] Shin da Gori（本地人之選，巷仔）（35–50 GEL）
晚：[平] El Depo（24/7，全城最佳 khinkali）（15–25 GEL）；[平] Baraqa（金羊毛噴泉旁）（25–35 GEL）；[中] ✅ Palaty（歌劇院對面，現場鋼琴）已訂 19:30（40–60 GEL · 要訂 rezto.ge）；[中] Wine Bar Sapere（自然酒）（45–65 GEL）
景點：Uplistsikhe 石窟城（41.9661, 44.2078）；Gori 史太林博物館（41.9847, 44.1156）；Gori 要塞（41.9847, 44.1100）；Bagrati 大教堂（Kutaisi）（42.2758, 42.7089）；Gelati（今日）（42.2953, 42.7683）
提醒：今日 380km，全程最長 — 08:45 準時走　|　E60 有區間測速，唔會現場罰但天眼會影　|　⚠️ Gelati 內部只喺週末開。你路線經 Kutaisi 係今日（五）同 5/10（一）— 兩日都唔係週末。想入內部就要 3/10（六）朝早由 Kutaisi 出發前繞去（見 DAY 09）
路線連結：https://www.google.com/maps/dir/?api=1&amp;origin=41.87000,45.52000&amp;destination=42.28300,42.72500&amp;waypoints=41.86430,45.27930%7C41.68605,45.04916%7C41.80208,44.87401%7C41.98470,44.11560%7C41.96610,44.20780&amp;travelmode=driving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08:00　早餐
09:00　Gelati 修道院（⭐今日星期六＝內部開放嘅唯一機會，1小時）— 酒店就喺 Gelati Street，順路
10:15　順路 Motsameta 懸崖修道院（15分）
11:00　出發西行
12:30　Zugdidi 午餐 + 入滿油（Svaneti 前最後大鎮）
13:45　Zugdidi → Mestia（恩古里峽谷）
14:30　恩古里水壩觀景（271.5m 拱壩，15分）
16:30　到 Mestia，check-in（12:00 起可入住）
17:00　Margiani 塔樓故居（行 3 分鐘，主人家族嘅博物館）· 斯凡塔樓群
19:30　晚餐 Cafe Laila（民歌樂隊 · ⚠️只收現金）
早：[平] Tuta（Galaktion Tabidze 12）08:00 開（15–25 GEL · 今日關鍵）；[貴] Doli @ Communal brunch（09:00）（30–40 GEL）
午：[平] Zugdidi 巴刹熟食（現金）（5–12 GEL · 快、平、地道）；[中] Diaroni（Zugdidi）明格列爾菜（30–40 GEL）；[中] The Host (Mendzel)（30–45 GEL）
晚：[平] Lushnu Qor（性價比最高）（20–30 GEL）；[平] Cafe Laila（Seti 廣場，民歌 live）（25–40 GEL · ⚠️只收現金）；[中] Old House（最可靠，+995 551 80 90 90）（35–50 GEL）
景點：Gelati 修道院（UNESCO）（42.2953, 42.7683）；恩古里水壩觀景（42.7628, 42.0281）；Motsameta 懸崖修道院（42.2819, 42.7592）；Martvili 峽谷（42.4150, 42.3800）；Tskaltubo 廢棄蘇聯療養院（42.3400, 42.5900）；Dadiani 宮（Zugdidi）（42.5088, 41.8709）
提醒：⭐ Gelati 內部只喺週末開，今日係你唯一星期六 — 09:00 去，人最少　|　Zugdidi 入滿油 — Svaneti 深山前最後大鎮　|　Mestia 撳現金 400–600 GEL/人 — Ushguli 全村冇 ATM　|　Zugdidi→Mestia 單線崖邊、有牛，唔好摸黑行（3/10 日落 18:46）　|　⚠️ 民宿喺斜石板巷上面 — 到埗先落車行上去睇路，唔好即刻載住行李衝上　|　💡 到埗即刻騎車落去辦妥現金同入油（ATM 行落去 13–14 分鐘、油站 1.7–2.2km），唔好留返夜晚行路
路線連結：https://www.google.com/maps/dir/?api=1&amp;origin=42.27450,42.71740&amp;destination=43.04831,42.73045&amp;waypoints=42.29530,42.76830%7C42.28194,42.75917%7C42.50880,41.87090%7C42.76280,42.02810&amp;travelmode=driving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09:00　早餐
09:30　斯瓦涅季博物館（⚠️逢一休，今日日開 · 1小時 · 全國最好地區博物館之一）
11:00　⛽ Mestia 入滿油（Ushguli/Zagari 冇油站）· 買定 kubdari 做午餐
11:30　出發上 Ushguli（2024 新鋪路）
13:00　到 Ushguli（2,100m，UNESCO），check-in
14:00　Shkhara 冰川谷 — 頭 7.3km 係車路，電單車可以騎入去（慳晒腳骨力）
16:30　返村 · Lamaria 教堂 · 石塔黃昏金光
19:00　晚餐 ⚠️民宿唔包餐 → 去 Murkvam／Cafe Svaneti，或 Mestia 買定嘢
早：[平] ⚠️民宿唔包早餐 — Mestia 買定麵包芝士，或去 Koshki（—）；[平] Coffee Kor（Mestia，Seti 廣場露台）（10–18 GEL）
午：[平] Mestia 買 kubdari 帶走（8–15 GEL · 凍食都好，塞入油缸袋 — 最啱電單車）；[中] Murkvam（Ushguli 到埗食晏午餐）（25–40 GEL · 現金）
晚：[平] ⚠️民宿唔包餐 — 要出去食或自己煮（有廚房）（—）；[平] Cafe Svaneti（菜單寫喺木片上）（20–30 GEL · 現金）；[中] Murkvam（歷史石屋）（25–40 GEL）；[貴] Agra Ushguli（Murkmeli 村，創新斯凡菜）（價錢未公開 · IG @agraushguli DM 訂（冇電話）· 全年開、每日三餐 · Mountain house 行 15–20 分／騎 5 分 · 帶現金 · 4/10 星期日要 DM 確認）
景點：Ushguli 村落群 + Lamaria 教堂（42.9167, 43.0167）；Shkhara 冰川谷（42.9300, 43.0400）；斯瓦涅季博物館（Mestia）（43.0430, 42.7290）；Margiani 塔樓故居（Mestia）（43.0450, 42.7300）；Ushguli 民族誌博物館（42.9160, 43.0160）；Koruldi 湖 4x4 track（43.0600, 42.7200）
提醒：今日最鬆 — 用嚟玩深 Shkhara 冰川谷（電單車嘅最大優勢）　|　⚠️ Ushguli 全村冇 ATM — Mestia 一定要撳定現金　|　電力／熱水可能間歇 — 帶尿袋、早啲沖涼　|　⚠️ 民宿唔包早餐同晚餐 — Mestia 出發前買定乾糧，或者到咗即刻同房東傾有冇得煮　|　村內全部係爛石／泥路，仲有牛同豬亂行 — 入村用行人速度
路線連結：https://www.google.com/maps/dir/?api=1&amp;origin=43.04831,42.73045&amp;destination=42.91517,43.01148&amp;waypoints=43.04300,42.72900%7C43.04200,42.72500%7C42.91517,43.01148%7C42.93000,43.04000&amp;travelmode=driving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07:30　早餐（前一晚同民宿講定）
08:30　go/no-go：問民宿路況 + georoad.ge。過去幾日大雨／今朝有雪 → 改行 Mestia→Zugdidi 原路
09:00　Zagari 山口 2,623m（⚠️清晨黑冰，等太陽出咗先過）
11:00　落到 Lentekhi — ⛽入油（Mestia 之後第一個油站）+ 午餐 kubdari
12:00　Lentekhi → Tsageri（Lechkhumi 風景路）
13:00　可選 Muri 要塞（星期一照開，因為係廢墟）
14:30　到 Kutaisi，check-in（15:00 起 · 早到可寄存行李）
16:00　休息／市內
19:30　晚餐
早：[平] 民宿早餐（要求 07:30）（已包 · 現金）
午：[平] Nunu's Svanian Kubdari（Lentekhi 河邊）（10–20 GEL · 現金 · Zagari 後嘅補給站）；[平] Lentekhi 超市（Nunu 閂就靠佢）（5–12 GEL）；[平] 叫民宿整定 kubdari 帶走（10–20 GEL · 今日選擇最少，最穩陣）
晚：[平] El Depo（24/7）（15–25 GEL · 天黑先到都有得食）；[中] Wine Bar Sapere（Imereti 琥珀酒）（45–65 GEL）；[中] Story（河畔露台）／Lilestan（燈串庭院）（25–40 GEL）
景點：Zagari 山口 2,623m（42.8600, 43.0000）；Lentekhi（實務站）（42.7889, 42.7250）；Muri 要塞（42.6500, 42.7700）；Lajanuri 水庫（42.6200, 42.8000）；Muashi 廢棄蘇聯療養院（42.7500, 42.8500）；Khvanchkara 酒村（42.5200, 43.1600）
提醒：⚠️ 星期一全部博物館閂 → 今日設計成純戶外日　|　Zagari 出發前一定要 check 天氣／路況 — 大雨後或有雪就唔好行　|　🔴 Google Maps／任何 OSM 導航喺 Zagari 段係壞嘅 — 佢會俾你 298–400km／8–10 小時，實際係 73km／約 2 小時（Ushguli–Zagari 嗰 8km 喺路網入面缺失）。一定要用離線 GPX／Organic Maps，唔好跟電話
路線連結：https://www.google.com/maps/dir/?api=1&amp;origin=42.91517,43.01148&amp;destination=42.78890,42.72500&amp;waypoints=42.86000,43.00000&amp;travelmode=driving | https://www.google.com/maps/dir/?api=1&amp;origin=42.78890,42.72500&amp;destination=42.27284,42.70651&amp;waypoints=42.64500,42.77000&amp;travelmode=driving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08:00　早餐（可要求前一晚打包）
09:00　出發（Rikoti 高速 2025年12月全線通車，51 條隧道，2.5–3 小時）
10:00　可選 Katskhi 石柱（40m 獨石柱頂上有教堂）+ Chiatura 蘇聯纜車
12:00　午餐（建議喺 Kutaisi 食飽先走／或 Surami nazuki 攤）
14:30　到第比利斯，⛽加滿油
15:00　上 video.police.ge 查天眼罰單（有就即交）
16:00　還車 SLAVATOUR — 驗車、退 €1,700 押金
17:30　Bolt 去 Fabrika Hostel check-in
19:30　晚餐（Fabrika 一帶）
早：[平] Kutaisi（Tuta 08:00 開）（15–25 GEL）
午：[平] Bikentia's Kebabery（Kutaisi）（12 GEL 全包 · 現金 · 10 分鐘搞掂 — 最啱電單車）；[平] Surami nazuki 攤（老 Rikoti 路）（3–8 GEL/個 · 現金 · 泥爐煙霧）；[中] 建議：喺 Kutaisi 食飽先走（路邊食嘢睇彩數，你有還車死線）（—）
晚：[平] Zakhar Zakharich（Dry Bridge 旁）（20–35 GEL）；[中] Poliphonia 自然酒（60–100 GEL）；[中] Fabrika 庭院酒吧／餐廳（30–60 GEL · 就喺樓下）
景點：Katskhi 石柱（42.2900, 43.2200）；Chiatura 蘇聯纜車（42.2900, 43.2800）；Ubisi 修道院（42.1300, 43.2000）；Sataplia 恐龍腳印（42.3100, 42.6700）；Prometheus 洞（42.3760, 42.6000）
提醒：還車時間係硬死線 — 唔好貪玩，預鬆啲　|　還車前：加滿油 + 查 video.police.ge 罰單（10 日內交有 8 折）　|　驗車時逐格拍片（同取車時一樣），確保退足 €1,700
路線連結：https://www.google.com/maps/dir/?api=1&amp;origin=42.27284,42.70651&amp;destination=41.70280,44.79950&amp;waypoints=42.28900,43.21700%7C42.29000,43.28000%7C42.02500,43.55500%7C41.78000,44.74000&amp;travelmode=driving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08:00　早餐 · 執行李
09:00　GoTrip 包車接（Fabrika 出發）
10:00　Sadakhlo／Bagratashen 過境（司機處理 · HK 護照免簽 180 日 · 30分–2小時）
11:30　Akhtala 修道院（拜占庭壁畫鋪滿牆，40–60 分）
13:00　Haghpat 修道院（UNESCO，45–60 分）+ 午餐
14:30　Sanahin 修道院（UNESCO，中世紀大學，45 分）
15:30　續往耶烈萬
18:00　到 R&amp;R Hotel check-in（17 Nalbandyan St，行 5 分鐘到共和廣場）
19:30　晚餐（可以飲酒 — 你係乘客）
早：[平] Fabrika（第比利斯）（已包／30–50 GEL）
午：[平] Mendz Er Cave（削入崖壁 + 峽谷露台）（3,700–7,300 AMD）；[中] Qefilyan（Haghpat，離修道院 200m）（5,000–9,000 AMD · 叫司機提前打 +374 55 210210）；[貴] Dzoraget Gorge @ Tufenkian（lavash 焗鱒魚）（10,000–18,000 AMD · 區內最好）
晚：[平] Tumanyan Khinkali（500 AMD 隻）（3,500–6,000 AMD）；[中] Sherep（Amiryan 1，開放式廚房）（5,000–10,000 AMD · 離酒店行得到）；[中] Tavern Yerevan（份量大、英文餐牌）（5,000–9,000 AMD）；[貴] Lavash（Tumanyan 21，ghapama 焗南瓜）（12,000–20,000 AMD · 要訂 +374 10 608800）
景點：Akhtala 修道院（41.1531, 44.7592）；Haghpat 修道院（UNESCO）（41.0919, 44.7114）；Sanahin 修道院（UNESCO）（41.0839, 44.6672）；Kobayr 修道院（41.1200, 44.7000）；Odzun 教堂（41.0700, 44.6100）；Lori Berd / Dendropark（41.0100, 44.4300）
提醒：電單車唔過境 → 唔使 POA 授權書、唔使亞美尼亞車保、唔使煩駕照 — 你今日係乘客　|　帶護照 · 換定 AMD（口岸換錢率差，只換夠用）· 過境隊時間浮動 30分–2小時
路線連結：https://www.google.com/maps/dir/?api=1&amp;origin=41.70280,44.79950&amp;destination=40.18150,44.51450&amp;waypoints=41.20940,44.81560%7C41.15310,44.75920%7C41.09190,44.71140%7C41.08390,44.66720&amp;travelmode=driving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08:00　早餐（酒店，或 Lavash 早餐 — 唯一唔使訂位嘅時段）
09:00　出發去 Geghard 修道院（早去，10:30 旅遊巴到）
10:00　Geghard（UNESCO 岩鑿修道院，1 小時）
11:15　Garni 神廟 + 石之交響曲玄武岩柱（1.5 小時）
13:30　返耶烈萬午餐
15:00　Matenadaran 古手稿館（⚠️逢日／一休，今日四開 · 16:00 前入場）
17:30　Cascade 階梯黃金時分（Ararat 光線 + 華燈初上）
19:30　晚餐 · 執行李（明朝早機）
早：[平] 酒店早餐（已包／3,000–6,000 AMD）；[平] Karas（Tumanyan 19，24 小時）（2,000–4,000 AMD）；[中] Lavash 早餐（睇住 tonir 泥爐焗 lavash）（4,000–7,000 AMD · 唯一唔使訂位時段）
午：[平] Garni 巴士站對面藍色小檔（lavash 卷）（700–1,500 AMD · 現金）；[中] Old Garni（村價，行得到神廟）（5,000–9,000 AMD）；[中] Gastro Yard Sergey Gabrielyan（自己貼 lavash 落 tonir）（7,000–12,000 AMD）；[貴] Harmonia Garden（自己揀塘入面條鱒魚）（9,000–15,000 AMD）
晚：[平] Anteb（西亞美尼亞菜，較辣）（~4,000 AMD · 全城最有趣平價餐）；[中] Tapastan（Saryan 6）亞美尼亞菜做 tapas（8,000–15,000 AMD · 一次試 8–10 款）；[貴] Dolmama（Pushkin 10）（25,000–40,000 AMD · 必訂 · 190年葡萄藤庭院）；[貴] Lavash（Dolmama 訂唔到嘅話）（12,000–20,000 AMD）
景點：Geghard 修道院（UNESCO）（40.1597, 44.8181）；Garni 神廟 + 石之交響曲（40.1122, 44.7300）；Matenadaran 古手稿館（40.1917, 44.5211）；Cascade 階梯 + 雕塑園（40.1908, 44.5153）；Khor Virap（Ararat 那張相）（39.8783, 44.5772）；Tsitsernakaberd 種族滅絕紀念館（40.1836, 44.4886）；共和廣場（40.1776, 44.5126）；ARARAT 白蘭地廠（40.1747, 44.4986）
提醒：⚠️ Cafesjian 室內畫廊 Fri–Sun 先開 → 今日四入唔到，但戶外 Cascade 階梯照行　|　明朝 11:00 早機 → 亞美尼亞玩到今日為止，今晚執定行李　|　想要 Khor Virap 嘅 Ararat 相 → 要用今朝換走 Garni/Geghard，二揀一
路線連結：https://www.google.com/maps/dir/?api=1&amp;origin=40.18150,44.51450&amp;destination=40.18150,44.51450&amp;waypoints=40.15970,44.81810%7C40.11220,44.73000&amp;travelmode=driving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07:00　早餐（酒店最早時段／Karas 24小時）· 可選 Cascade 日出（07:20，10月初空氣最清）
08:30　去 EVN 機場（酒店接送／的士，約 20 分鐘）
09:30　到 Zvartnots (EVN) check-in
11:00　FlyOne 3F 583 起飛（A320，40 分鐘）✅已訂
11:40　到 第比利斯 TBS → Bolt 入城
12:45　Check-in Fabrika · 放低行李
13:30　第比利斯觀光①：舊城 Kala · Abanotubani 浴場區
15:00　硫磺浴（Chreli-Abano，⚠️120–200 GEL/房/鐘，兩人分）
16:45　Narikala 山脊 + 纜車 + 格魯吉亞之母（黃昏最靚 · ⚠️城堡本體維修封閉）
18:28　日落 · 和平橋 + Rike 公園夜景
20:00　告別晚餐 Barbarestan（要提早訂）
早：[平] R&amp;R 酒店早餐（前一晚問最早時段）（已包）；[平] Karas（24 小時）（2,000–3,500 AMD）
午：[平] Amo Rame（Ingorokva 3）khinkali 1.2–1.5 GEL 隻（25–45 GEL · 全城最好，離自由廣場 5 分鐘）；[平] Shemomechama（就喺浴場區）（30–50 GEL）；[中] Salobie Bia（Rustaveli 17 地庫）（40–70 GEL · Gault&amp;Millau）
晚：[平] Zakhar Zakharich（20–35 GEL）；[中] Poliphonia 自然酒（60–100 GEL）；[貴] Barbarestan（Aghmashenebeli 132）（100–150 GEL · 全城最難訂，要早幾日）；[貴] Cafe Littera（作家之家庭院）（90–150 GEL）
景點：Abanotubani 硫磺浴（41.6895, 44.8095）；Narikala 山脊 + 纜車 + 格魯吉亞之母（41.6875, 44.8078）；舊城核心（Sioni／Anchiskhati／Gabriadze 鐘樓）（41.6900, 44.8070）；和平橋 + Rike 公園（41.6925, 44.8085）；Metekhi 教堂 + Vakhtang 銅像（41.6905, 44.8115）；國家博物館 + 蘇聯佔領館（41.6970, 44.7995）；Sololaki 後巷 + 新藝術樓梯間（41.6930, 44.8000）
提醒：11:00 起飛 → 09:30 到 EVN → Yerevan 朝早乜都未開（全部 10:00 起），唔好諗住去景點　|　硫磺浴實價比一般資料貴好多，預 120–200 GEL/房/鐘
路線連結：https://www.google.com/maps/dir/?api=1&amp;origin=40.18150,44.51450&amp;destination=40.14730,44.39590&amp;travelmode=driving | https://www.google.com/maps/dir/?api=1&amp;origin=41.66920,44.95470&amp;destination=41.70280,44.79950&amp;waypoints=41.70280,44.79950%7C41.68950,44.80950%7C41.68800,44.81100%7C41.68750,44.80780%7C41.69250,44.80850%7C41.71120,44.79430&amp;travelmode=driving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08:00　早餐 The Blue Fox（08:00 開，舊城最可靠）
09:00　Dry Bridge 古董市集（⚠️只收現金 · 09:30–11:00 係甜蜜點）
10:00　可選 Dezerter 巴刹（週六最旺）／Sameba 大教堂／08:00 冇人嘅舊城
10:45　返酒店取行李（11:00 退房）→ Bolt 去 TBS（約 20 GEL）
11:45　到機場（check-in 閂櫃 13:00）
14:00　QR 256 起飛 → 多哈 16:15
早：[平] The Blue Fox（近 Gabriadze 鐘樓，08:00 開）（25–40 GEL）；[平] Dila Georgian Mornings（kikliko 格魯吉亞煎蛋）（25–40 GEL）；[貴] Cafe Stamba（蘇聯印刷廠改建，08:00）（50–90 GEL）
午：[平] 機場／機上（—）
晚：[平] 多哈轉機（16:15–翌日 02:35，約 10 小時）（—）
景點：Dry Bridge 古董市集（41.6987, 44.8028）；08:00 冇人嘅舊城（41.6900, 44.8070）；Dezerter 巴刹（41.7080, 44.7920）；Sameba 大教堂（41.6975, 44.8188）；國家博物館／植物園／Mtatsminda（—）
提醒：10:45 出發去機場（退房 11:00）— 14:00 機，13:00 閂櫃，咁樣有 2h40 buffer　|　Dry Bridge 只收現金 — 留返啲 GEL
路線連結：https://www.google.com/maps/dir/?api=1&amp;origin=41.70280,44.79950&amp;destination=41.66920,44.95470&amp;waypoints=41.69000,44.80700%7C41.69870,44.80280%7C41.70800,44.79200%7C41.70280,44.79950&amp;travelmode=driving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02:35　QR 852 起飛（多哈 → 吉隆坡）
15:10　到吉隆坡 KLIA T1
15:20　⚠️取行李 → 過入境 → 重新 check-in 國泰（兩張唔同機票，唔會直掛）
16:40　國泰櫃位 check-in 完 · 過安檢
17:40　CX 724 起飛 吉隆坡 → 香港
22:00　到香港 🏁
早：[平] 機上／KLIA（—）
提醒：⚠️ QR852 同 CX724 係兩張唔同機票 — 行李唔會直掛去香港，要喺吉隆坡取行李、過入境、再 check-in　|　⚠️ 只得 2 小時 30 分鐘轉機 — 夠，但零 buffer。QR852 一延誤就會影響 CX724，買旅遊保時留意有冇 missed connection 保障　|　兩程都喺 KLIA Terminal 1，唔使轉航廈 ✅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jpg"/><Relationship Id="rId3" Type="http://schemas.openxmlformats.org/officeDocument/2006/relationships/image" Target="../media/image-2-3.jpg"/><Relationship Id="rId4" Type="http://schemas.openxmlformats.org/officeDocument/2006/relationships/image" Target="../media/image-2-4.jpg"/><Relationship Id="rId5" Type="http://schemas.openxmlformats.org/officeDocument/2006/relationships/image" Target="../media/image-2-5.jpg"/><Relationship Id="rId6" Type="http://schemas.openxmlformats.org/officeDocument/2006/relationships/image" Target="../media/image-2-6.jpg"/><Relationship Id="rId7" Type="http://schemas.openxmlformats.org/officeDocument/2006/relationships/image" Target="../media/image-2-7.jpg"/><Relationship Id="rId8" Type="http://schemas.openxmlformats.org/officeDocument/2006/relationships/image" Target="../media/image-2-8.jpg"/><Relationship Id="rId9" Type="http://schemas.openxmlformats.org/officeDocument/2006/relationships/image" Target="../media/image-2-9.jpg"/><Relationship Id="rId10" Type="http://schemas.openxmlformats.org/officeDocument/2006/relationships/image" Target="../media/image-2-10.jpg"/><Relationship Id="rId11" Type="http://schemas.openxmlformats.org/officeDocument/2006/relationships/image" Target="../media/image-2-11.jpg"/><Relationship Id="rId12" Type="http://schemas.openxmlformats.org/officeDocument/2006/relationships/image" Target="../media/image-2-12.jpg"/><Relationship Id="rId13" Type="http://schemas.openxmlformats.org/officeDocument/2006/relationships/image" Target="../media/image-2-13.jpg"/><Relationship Id="rId14" Type="http://schemas.openxmlformats.org/officeDocument/2006/relationships/image" Target="../media/image-2-14.jp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3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eogria/tools/pdfbuild/img/ge_gergeti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home/user/geogria/tools/pptbuild/scri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77240" y="38953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D9E4D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 T I N E R A R Y　2 0 2 6</a:t>
            </a:r>
            <a:endParaRPr lang="en-US" sz="1100" dirty="0"/>
          </a:p>
        </p:txBody>
      </p:sp>
      <p:sp>
        <p:nvSpPr>
          <p:cNvPr id="5" name="Text 1"/>
          <p:cNvSpPr txBox="1"/>
          <p:nvPr/>
        </p:nvSpPr>
        <p:spPr>
          <a:xfrm>
            <a:off x="777240" y="4169664"/>
            <a:ext cx="7680960" cy="137160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25400" dir="54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格魯吉亞 · 亞美尼亞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電單車之旅</a:t>
            </a:r>
            <a:endParaRPr lang="en-US" sz="4000" dirty="0"/>
          </a:p>
        </p:txBody>
      </p:sp>
      <p:sp>
        <p:nvSpPr>
          <p:cNvPr id="6" name="Text 2"/>
          <p:cNvSpPr txBox="1"/>
          <p:nvPr/>
        </p:nvSpPr>
        <p:spPr>
          <a:xfrm>
            <a:off x="777240" y="554126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E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Georgia &amp; Armenia Motorcycle Trip　·　2026年9月25日 – 10月11日（17日）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777240" y="596188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D59A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旅客</a:t>
            </a:r>
            <a:endParaRPr lang="en-US" sz="85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61447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Alex · Hugo</a:t>
            </a:r>
            <a:endParaRPr lang="en-US" sz="1250" dirty="0"/>
          </a:p>
        </p:txBody>
      </p:sp>
      <p:sp>
        <p:nvSpPr>
          <p:cNvPr id="9" name="Text 5"/>
          <p:cNvSpPr txBox="1"/>
          <p:nvPr/>
        </p:nvSpPr>
        <p:spPr>
          <a:xfrm>
            <a:off x="3172968" y="596188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D59A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車</a:t>
            </a:r>
            <a:endParaRPr lang="en-US" sz="850" dirty="0"/>
          </a:p>
        </p:txBody>
      </p:sp>
      <p:sp>
        <p:nvSpPr>
          <p:cNvPr id="10" name="Text 6"/>
          <p:cNvSpPr txBox="1"/>
          <p:nvPr/>
        </p:nvSpPr>
        <p:spPr>
          <a:xfrm>
            <a:off x="3172968" y="61447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× KTM 690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5568696" y="596188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D59A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電單車里程</a:t>
            </a:r>
            <a:endParaRPr lang="en-US" sz="850" dirty="0"/>
          </a:p>
        </p:txBody>
      </p:sp>
      <p:sp>
        <p:nvSpPr>
          <p:cNvPr id="12" name="Text 8"/>
          <p:cNvSpPr txBox="1"/>
          <p:nvPr/>
        </p:nvSpPr>
        <p:spPr>
          <a:xfrm>
            <a:off x="5568696" y="61447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1,500 km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7964424" y="596188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D59A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住宿</a:t>
            </a:r>
            <a:endParaRPr lang="en-US" sz="850" dirty="0"/>
          </a:p>
        </p:txBody>
      </p:sp>
      <p:sp>
        <p:nvSpPr>
          <p:cNvPr id="14" name="Text 10"/>
          <p:cNvSpPr txBox="1"/>
          <p:nvPr/>
        </p:nvSpPr>
        <p:spPr>
          <a:xfrm>
            <a:off x="7964424" y="61447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 晚全部已訂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6705295" y="6519672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BAF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📷 Gergeti 三一教堂 + Kazbek 山（Geo Max · CC BY-SA 2.0）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行程一覽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50976"/>
            <a:ext cx="8778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OVERVIEW · 17 日 · 香港 → 吉隆坡 → 多哈 → 格魯吉亞 → 亞美尼亞 → 香港</a:t>
            </a:r>
            <a:endParaRPr lang="en-US" sz="1200" dirty="0"/>
          </a:p>
        </p:txBody>
      </p:sp>
      <p:pic>
        <p:nvPicPr>
          <p:cNvPr id="4" name="Image 0" descr="/home/user/geogria/tools/pdfbuild/img/kl_petrona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81328"/>
            <a:ext cx="2157984" cy="118872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612648" y="1545336"/>
            <a:ext cx="658368" cy="237744"/>
          </a:xfrm>
          <a:prstGeom prst="roundRect">
            <a:avLst>
              <a:gd name="adj" fmla="val 19231"/>
            </a:avLst>
          </a:prstGeom>
          <a:solidFill>
            <a:srgbClr val="D59A3C"/>
          </a:solidFill>
          <a:ln w="12700">
            <a:solidFill>
              <a:srgbClr val="D59A3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12648" y="1545336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D1–2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706624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吉隆坡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907792"/>
            <a:ext cx="2157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A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25–26/9</a:t>
            </a:r>
            <a:endParaRPr lang="en-US" sz="850" dirty="0"/>
          </a:p>
        </p:txBody>
      </p:sp>
      <p:pic>
        <p:nvPicPr>
          <p:cNvPr id="9" name="Image 1" descr="/home/user/geogria/tools/pdfbuild/img/doha_mia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862072" y="1481328"/>
            <a:ext cx="2157984" cy="118872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pic>
      <p:sp>
        <p:nvSpPr>
          <p:cNvPr id="10" name="Shape 6"/>
          <p:cNvSpPr/>
          <p:nvPr/>
        </p:nvSpPr>
        <p:spPr>
          <a:xfrm>
            <a:off x="2926080" y="1545336"/>
            <a:ext cx="658368" cy="237744"/>
          </a:xfrm>
          <a:prstGeom prst="roundRect">
            <a:avLst>
              <a:gd name="adj" fmla="val 19231"/>
            </a:avLst>
          </a:prstGeom>
          <a:solidFill>
            <a:srgbClr val="D59A3C"/>
          </a:solidFill>
          <a:ln w="12700">
            <a:solidFill>
              <a:srgbClr val="D59A3C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2926080" y="1545336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D3–4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2862072" y="2706624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多哈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2862072" y="2907792"/>
            <a:ext cx="2157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A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27–28/9</a:t>
            </a:r>
            <a:endParaRPr lang="en-US" sz="850" dirty="0"/>
          </a:p>
        </p:txBody>
      </p:sp>
      <p:pic>
        <p:nvPicPr>
          <p:cNvPr id="14" name="Image 2" descr="/home/user/geogria/tools/pdfbuild/img/ge_ananuri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175504" y="1481328"/>
            <a:ext cx="2157984" cy="118872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pic>
      <p:sp>
        <p:nvSpPr>
          <p:cNvPr id="15" name="Shape 10"/>
          <p:cNvSpPr/>
          <p:nvPr/>
        </p:nvSpPr>
        <p:spPr>
          <a:xfrm>
            <a:off x="5239512" y="1545336"/>
            <a:ext cx="658368" cy="237744"/>
          </a:xfrm>
          <a:prstGeom prst="roundRect">
            <a:avLst>
              <a:gd name="adj" fmla="val 19231"/>
            </a:avLst>
          </a:prstGeom>
          <a:solidFill>
            <a:srgbClr val="D59A3C"/>
          </a:solidFill>
          <a:ln w="12700">
            <a:solidFill>
              <a:srgbClr val="D59A3C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5239512" y="1545336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D5</a:t>
            </a:r>
            <a:endParaRPr lang="en-US" sz="900" dirty="0"/>
          </a:p>
        </p:txBody>
      </p:sp>
      <p:sp>
        <p:nvSpPr>
          <p:cNvPr id="17" name="Text 12"/>
          <p:cNvSpPr txBox="1"/>
          <p:nvPr/>
        </p:nvSpPr>
        <p:spPr>
          <a:xfrm>
            <a:off x="5175504" y="2706624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軍事公路 → Kazbegi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5175504" y="2907792"/>
            <a:ext cx="2157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A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29/9</a:t>
            </a:r>
            <a:endParaRPr lang="en-US" sz="850" dirty="0"/>
          </a:p>
        </p:txBody>
      </p:sp>
      <p:pic>
        <p:nvPicPr>
          <p:cNvPr id="19" name="Image 3" descr="/home/user/geogria/tools/pdfbuild/img/ge_gergeti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488936" y="1481328"/>
            <a:ext cx="2157984" cy="118872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pic>
      <p:sp>
        <p:nvSpPr>
          <p:cNvPr id="20" name="Shape 14"/>
          <p:cNvSpPr/>
          <p:nvPr/>
        </p:nvSpPr>
        <p:spPr>
          <a:xfrm>
            <a:off x="7552944" y="1545336"/>
            <a:ext cx="658368" cy="237744"/>
          </a:xfrm>
          <a:prstGeom prst="roundRect">
            <a:avLst>
              <a:gd name="adj" fmla="val 19231"/>
            </a:avLst>
          </a:prstGeom>
          <a:solidFill>
            <a:srgbClr val="D59A3C"/>
          </a:solidFill>
          <a:ln w="12700">
            <a:solidFill>
              <a:srgbClr val="D59A3C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7552944" y="1545336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D6</a:t>
            </a:r>
            <a:endParaRPr lang="en-US" sz="900" dirty="0"/>
          </a:p>
        </p:txBody>
      </p:sp>
      <p:sp>
        <p:nvSpPr>
          <p:cNvPr id="22" name="Text 16"/>
          <p:cNvSpPr txBox="1"/>
          <p:nvPr/>
        </p:nvSpPr>
        <p:spPr>
          <a:xfrm>
            <a:off x="7488936" y="2706624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Kazbegi · Truso</a:t>
            </a:r>
            <a:endParaRPr lang="en-US" sz="1050" dirty="0"/>
          </a:p>
        </p:txBody>
      </p:sp>
      <p:sp>
        <p:nvSpPr>
          <p:cNvPr id="23" name="Text 17"/>
          <p:cNvSpPr txBox="1"/>
          <p:nvPr/>
        </p:nvSpPr>
        <p:spPr>
          <a:xfrm>
            <a:off x="7488936" y="2907792"/>
            <a:ext cx="2157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A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30/9</a:t>
            </a:r>
            <a:endParaRPr lang="en-US" sz="850" dirty="0"/>
          </a:p>
        </p:txBody>
      </p:sp>
      <p:pic>
        <p:nvPicPr>
          <p:cNvPr id="24" name="Image 4" descr="/home/user/geogria/tools/pdfbuild/img/ge_kakheti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802368" y="1481328"/>
            <a:ext cx="2157984" cy="118872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hape 18"/>
          <p:cNvSpPr/>
          <p:nvPr/>
        </p:nvSpPr>
        <p:spPr>
          <a:xfrm>
            <a:off x="9866376" y="1545336"/>
            <a:ext cx="658368" cy="237744"/>
          </a:xfrm>
          <a:prstGeom prst="roundRect">
            <a:avLst>
              <a:gd name="adj" fmla="val 19231"/>
            </a:avLst>
          </a:prstGeom>
          <a:solidFill>
            <a:srgbClr val="D59A3C"/>
          </a:solidFill>
          <a:ln w="12700">
            <a:solidFill>
              <a:srgbClr val="D59A3C"/>
            </a:solidFill>
            <a:prstDash val="solid"/>
          </a:ln>
        </p:spPr>
      </p:sp>
      <p:sp>
        <p:nvSpPr>
          <p:cNvPr id="26" name="Text 19"/>
          <p:cNvSpPr txBox="1"/>
          <p:nvPr/>
        </p:nvSpPr>
        <p:spPr>
          <a:xfrm>
            <a:off x="9866376" y="1545336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D7</a:t>
            </a:r>
            <a:endParaRPr lang="en-US" sz="900" dirty="0"/>
          </a:p>
        </p:txBody>
      </p:sp>
      <p:sp>
        <p:nvSpPr>
          <p:cNvPr id="27" name="Text 20"/>
          <p:cNvSpPr txBox="1"/>
          <p:nvPr/>
        </p:nvSpPr>
        <p:spPr>
          <a:xfrm>
            <a:off x="9802368" y="2706624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Gombori → 卡赫季酒莊</a:t>
            </a:r>
            <a:endParaRPr lang="en-US" sz="1050" dirty="0"/>
          </a:p>
        </p:txBody>
      </p:sp>
      <p:sp>
        <p:nvSpPr>
          <p:cNvPr id="28" name="Text 21"/>
          <p:cNvSpPr txBox="1"/>
          <p:nvPr/>
        </p:nvSpPr>
        <p:spPr>
          <a:xfrm>
            <a:off x="9802368" y="2907792"/>
            <a:ext cx="2157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A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1/10</a:t>
            </a:r>
            <a:endParaRPr lang="en-US" sz="850" dirty="0"/>
          </a:p>
        </p:txBody>
      </p:sp>
      <p:pic>
        <p:nvPicPr>
          <p:cNvPr id="29" name="Image 5" descr="/home/user/geogria/tools/pdfbuild/img/ge_uplistsikhe.jp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548640" y="3236976"/>
            <a:ext cx="2157984" cy="118872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pic>
      <p:sp>
        <p:nvSpPr>
          <p:cNvPr id="30" name="Shape 22"/>
          <p:cNvSpPr/>
          <p:nvPr/>
        </p:nvSpPr>
        <p:spPr>
          <a:xfrm>
            <a:off x="612648" y="3300984"/>
            <a:ext cx="658368" cy="237744"/>
          </a:xfrm>
          <a:prstGeom prst="roundRect">
            <a:avLst>
              <a:gd name="adj" fmla="val 19231"/>
            </a:avLst>
          </a:prstGeom>
          <a:solidFill>
            <a:srgbClr val="D59A3C"/>
          </a:solidFill>
          <a:ln w="12700">
            <a:solidFill>
              <a:srgbClr val="D59A3C"/>
            </a:solidFill>
            <a:prstDash val="solid"/>
          </a:ln>
        </p:spPr>
      </p:sp>
      <p:sp>
        <p:nvSpPr>
          <p:cNvPr id="31" name="Text 23"/>
          <p:cNvSpPr txBox="1"/>
          <p:nvPr/>
        </p:nvSpPr>
        <p:spPr>
          <a:xfrm>
            <a:off x="612648" y="3300984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D8</a:t>
            </a:r>
            <a:endParaRPr lang="en-US" sz="900" dirty="0"/>
          </a:p>
        </p:txBody>
      </p:sp>
      <p:sp>
        <p:nvSpPr>
          <p:cNvPr id="32" name="Text 24"/>
          <p:cNvSpPr txBox="1"/>
          <p:nvPr/>
        </p:nvSpPr>
        <p:spPr>
          <a:xfrm>
            <a:off x="548640" y="4462272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Uplistsikhe → Kutaisi</a:t>
            </a:r>
            <a:endParaRPr lang="en-US" sz="1050" dirty="0"/>
          </a:p>
        </p:txBody>
      </p:sp>
      <p:sp>
        <p:nvSpPr>
          <p:cNvPr id="33" name="Text 25"/>
          <p:cNvSpPr txBox="1"/>
          <p:nvPr/>
        </p:nvSpPr>
        <p:spPr>
          <a:xfrm>
            <a:off x="548640" y="4663440"/>
            <a:ext cx="2157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A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2/10</a:t>
            </a:r>
            <a:endParaRPr lang="en-US" sz="850" dirty="0"/>
          </a:p>
        </p:txBody>
      </p:sp>
      <p:pic>
        <p:nvPicPr>
          <p:cNvPr id="34" name="Image 6" descr="/home/user/geogria/tools/pdfbuild/img/ge_mestia.jp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2862072" y="3236976"/>
            <a:ext cx="2157984" cy="118872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pic>
      <p:sp>
        <p:nvSpPr>
          <p:cNvPr id="35" name="Shape 26"/>
          <p:cNvSpPr/>
          <p:nvPr/>
        </p:nvSpPr>
        <p:spPr>
          <a:xfrm>
            <a:off x="2926080" y="3300984"/>
            <a:ext cx="658368" cy="237744"/>
          </a:xfrm>
          <a:prstGeom prst="roundRect">
            <a:avLst>
              <a:gd name="adj" fmla="val 19231"/>
            </a:avLst>
          </a:prstGeom>
          <a:solidFill>
            <a:srgbClr val="D59A3C"/>
          </a:solidFill>
          <a:ln w="12700">
            <a:solidFill>
              <a:srgbClr val="D59A3C"/>
            </a:solidFill>
            <a:prstDash val="solid"/>
          </a:ln>
        </p:spPr>
      </p:sp>
      <p:sp>
        <p:nvSpPr>
          <p:cNvPr id="36" name="Text 27"/>
          <p:cNvSpPr txBox="1"/>
          <p:nvPr/>
        </p:nvSpPr>
        <p:spPr>
          <a:xfrm>
            <a:off x="2926080" y="3300984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D9</a:t>
            </a:r>
            <a:endParaRPr lang="en-US" sz="900" dirty="0"/>
          </a:p>
        </p:txBody>
      </p:sp>
      <p:sp>
        <p:nvSpPr>
          <p:cNvPr id="37" name="Text 28"/>
          <p:cNvSpPr txBox="1"/>
          <p:nvPr/>
        </p:nvSpPr>
        <p:spPr>
          <a:xfrm>
            <a:off x="2862072" y="4462272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Gelati → Mestia</a:t>
            </a:r>
            <a:endParaRPr lang="en-US" sz="1050" dirty="0"/>
          </a:p>
        </p:txBody>
      </p:sp>
      <p:sp>
        <p:nvSpPr>
          <p:cNvPr id="38" name="Text 29"/>
          <p:cNvSpPr txBox="1"/>
          <p:nvPr/>
        </p:nvSpPr>
        <p:spPr>
          <a:xfrm>
            <a:off x="2862072" y="4663440"/>
            <a:ext cx="2157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A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3/10</a:t>
            </a:r>
            <a:endParaRPr lang="en-US" sz="850" dirty="0"/>
          </a:p>
        </p:txBody>
      </p:sp>
      <p:pic>
        <p:nvPicPr>
          <p:cNvPr id="39" name="Image 7" descr="/home/user/geogria/tools/pdfbuild/img/ge_ushguli.jp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5175504" y="3236976"/>
            <a:ext cx="2157984" cy="118872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pic>
      <p:sp>
        <p:nvSpPr>
          <p:cNvPr id="40" name="Shape 30"/>
          <p:cNvSpPr/>
          <p:nvPr/>
        </p:nvSpPr>
        <p:spPr>
          <a:xfrm>
            <a:off x="5239512" y="3300984"/>
            <a:ext cx="658368" cy="237744"/>
          </a:xfrm>
          <a:prstGeom prst="roundRect">
            <a:avLst>
              <a:gd name="adj" fmla="val 19231"/>
            </a:avLst>
          </a:prstGeom>
          <a:solidFill>
            <a:srgbClr val="D59A3C"/>
          </a:solidFill>
          <a:ln w="12700">
            <a:solidFill>
              <a:srgbClr val="D59A3C"/>
            </a:solidFill>
            <a:prstDash val="solid"/>
          </a:ln>
        </p:spPr>
      </p:sp>
      <p:sp>
        <p:nvSpPr>
          <p:cNvPr id="41" name="Text 31"/>
          <p:cNvSpPr txBox="1"/>
          <p:nvPr/>
        </p:nvSpPr>
        <p:spPr>
          <a:xfrm>
            <a:off x="5239512" y="3300984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D10</a:t>
            </a:r>
            <a:endParaRPr lang="en-US" sz="900" dirty="0"/>
          </a:p>
        </p:txBody>
      </p:sp>
      <p:sp>
        <p:nvSpPr>
          <p:cNvPr id="42" name="Text 32"/>
          <p:cNvSpPr txBox="1"/>
          <p:nvPr/>
        </p:nvSpPr>
        <p:spPr>
          <a:xfrm>
            <a:off x="5175504" y="4462272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Ushguli · Shkhara</a:t>
            </a:r>
            <a:endParaRPr lang="en-US" sz="1050" dirty="0"/>
          </a:p>
        </p:txBody>
      </p:sp>
      <p:sp>
        <p:nvSpPr>
          <p:cNvPr id="43" name="Text 33"/>
          <p:cNvSpPr txBox="1"/>
          <p:nvPr/>
        </p:nvSpPr>
        <p:spPr>
          <a:xfrm>
            <a:off x="5175504" y="4663440"/>
            <a:ext cx="2157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A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4/10</a:t>
            </a:r>
            <a:endParaRPr lang="en-US" sz="850" dirty="0"/>
          </a:p>
        </p:txBody>
      </p:sp>
      <p:pic>
        <p:nvPicPr>
          <p:cNvPr id="44" name="Image 8" descr="/home/user/geogria/tools/pdfbuild/img/ge_zagari.jp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7488936" y="3236976"/>
            <a:ext cx="2157984" cy="118872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pic>
      <p:sp>
        <p:nvSpPr>
          <p:cNvPr id="45" name="Shape 34"/>
          <p:cNvSpPr/>
          <p:nvPr/>
        </p:nvSpPr>
        <p:spPr>
          <a:xfrm>
            <a:off x="7552944" y="3300984"/>
            <a:ext cx="658368" cy="237744"/>
          </a:xfrm>
          <a:prstGeom prst="roundRect">
            <a:avLst>
              <a:gd name="adj" fmla="val 19231"/>
            </a:avLst>
          </a:prstGeom>
          <a:solidFill>
            <a:srgbClr val="D59A3C"/>
          </a:solidFill>
          <a:ln w="12700">
            <a:solidFill>
              <a:srgbClr val="D59A3C"/>
            </a:solidFill>
            <a:prstDash val="solid"/>
          </a:ln>
        </p:spPr>
      </p:sp>
      <p:sp>
        <p:nvSpPr>
          <p:cNvPr id="46" name="Text 35"/>
          <p:cNvSpPr txBox="1"/>
          <p:nvPr/>
        </p:nvSpPr>
        <p:spPr>
          <a:xfrm>
            <a:off x="7552944" y="3300984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D11</a:t>
            </a:r>
            <a:endParaRPr lang="en-US" sz="900" dirty="0"/>
          </a:p>
        </p:txBody>
      </p:sp>
      <p:sp>
        <p:nvSpPr>
          <p:cNvPr id="47" name="Text 36"/>
          <p:cNvSpPr txBox="1"/>
          <p:nvPr/>
        </p:nvSpPr>
        <p:spPr>
          <a:xfrm>
            <a:off x="7488936" y="4462272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Zagari 山口 → Kutaisi</a:t>
            </a:r>
            <a:endParaRPr lang="en-US" sz="1050" dirty="0"/>
          </a:p>
        </p:txBody>
      </p:sp>
      <p:sp>
        <p:nvSpPr>
          <p:cNvPr id="48" name="Text 37"/>
          <p:cNvSpPr txBox="1"/>
          <p:nvPr/>
        </p:nvSpPr>
        <p:spPr>
          <a:xfrm>
            <a:off x="7488936" y="4663440"/>
            <a:ext cx="2157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A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5/10</a:t>
            </a:r>
            <a:endParaRPr lang="en-US" sz="850" dirty="0"/>
          </a:p>
        </p:txBody>
      </p:sp>
      <p:pic>
        <p:nvPicPr>
          <p:cNvPr id="49" name="Image 9" descr="/home/user/geogria/tools/pdfbuild/img/ge_katskhi.jp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9802368" y="3236976"/>
            <a:ext cx="2157984" cy="118872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pic>
      <p:sp>
        <p:nvSpPr>
          <p:cNvPr id="50" name="Shape 38"/>
          <p:cNvSpPr/>
          <p:nvPr/>
        </p:nvSpPr>
        <p:spPr>
          <a:xfrm>
            <a:off x="9866376" y="3300984"/>
            <a:ext cx="658368" cy="237744"/>
          </a:xfrm>
          <a:prstGeom prst="roundRect">
            <a:avLst>
              <a:gd name="adj" fmla="val 19231"/>
            </a:avLst>
          </a:prstGeom>
          <a:solidFill>
            <a:srgbClr val="D59A3C"/>
          </a:solidFill>
          <a:ln w="12700">
            <a:solidFill>
              <a:srgbClr val="D59A3C"/>
            </a:solidFill>
            <a:prstDash val="solid"/>
          </a:ln>
        </p:spPr>
      </p:sp>
      <p:sp>
        <p:nvSpPr>
          <p:cNvPr id="51" name="Text 39"/>
          <p:cNvSpPr txBox="1"/>
          <p:nvPr/>
        </p:nvSpPr>
        <p:spPr>
          <a:xfrm>
            <a:off x="9866376" y="3300984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D12</a:t>
            </a:r>
            <a:endParaRPr lang="en-US" sz="900" dirty="0"/>
          </a:p>
        </p:txBody>
      </p:sp>
      <p:sp>
        <p:nvSpPr>
          <p:cNvPr id="52" name="Text 40"/>
          <p:cNvSpPr txBox="1"/>
          <p:nvPr/>
        </p:nvSpPr>
        <p:spPr>
          <a:xfrm>
            <a:off x="9802368" y="4462272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Katskhi → 第比利斯</a:t>
            </a:r>
            <a:endParaRPr lang="en-US" sz="1050" dirty="0"/>
          </a:p>
        </p:txBody>
      </p:sp>
      <p:sp>
        <p:nvSpPr>
          <p:cNvPr id="53" name="Text 41"/>
          <p:cNvSpPr txBox="1"/>
          <p:nvPr/>
        </p:nvSpPr>
        <p:spPr>
          <a:xfrm>
            <a:off x="9802368" y="4663440"/>
            <a:ext cx="2157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A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6/10</a:t>
            </a:r>
            <a:endParaRPr lang="en-US" sz="850" dirty="0"/>
          </a:p>
        </p:txBody>
      </p:sp>
      <p:pic>
        <p:nvPicPr>
          <p:cNvPr id="54" name="Image 10" descr="/home/user/geogria/tools/pdfbuild/img/am_haghpat.jp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548640" y="4992624"/>
            <a:ext cx="2157984" cy="118872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pic>
      <p:sp>
        <p:nvSpPr>
          <p:cNvPr id="55" name="Shape 42"/>
          <p:cNvSpPr/>
          <p:nvPr/>
        </p:nvSpPr>
        <p:spPr>
          <a:xfrm>
            <a:off x="612648" y="5056632"/>
            <a:ext cx="658368" cy="237744"/>
          </a:xfrm>
          <a:prstGeom prst="roundRect">
            <a:avLst>
              <a:gd name="adj" fmla="val 19231"/>
            </a:avLst>
          </a:prstGeom>
          <a:solidFill>
            <a:srgbClr val="D59A3C"/>
          </a:solidFill>
          <a:ln w="12700">
            <a:solidFill>
              <a:srgbClr val="D59A3C"/>
            </a:solidFill>
            <a:prstDash val="solid"/>
          </a:ln>
        </p:spPr>
      </p:sp>
      <p:sp>
        <p:nvSpPr>
          <p:cNvPr id="56" name="Text 43"/>
          <p:cNvSpPr txBox="1"/>
          <p:nvPr/>
        </p:nvSpPr>
        <p:spPr>
          <a:xfrm>
            <a:off x="612648" y="5056632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D13</a:t>
            </a:r>
            <a:endParaRPr lang="en-US" sz="900" dirty="0"/>
          </a:p>
        </p:txBody>
      </p:sp>
      <p:sp>
        <p:nvSpPr>
          <p:cNvPr id="57" name="Text 44"/>
          <p:cNvSpPr txBox="1"/>
          <p:nvPr/>
        </p:nvSpPr>
        <p:spPr>
          <a:xfrm>
            <a:off x="548640" y="6217920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Debed 峽谷 → 耶烈萬</a:t>
            </a:r>
            <a:endParaRPr lang="en-US" sz="1050" dirty="0"/>
          </a:p>
        </p:txBody>
      </p:sp>
      <p:sp>
        <p:nvSpPr>
          <p:cNvPr id="58" name="Text 45"/>
          <p:cNvSpPr txBox="1"/>
          <p:nvPr/>
        </p:nvSpPr>
        <p:spPr>
          <a:xfrm>
            <a:off x="548640" y="6419088"/>
            <a:ext cx="2157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A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7/10</a:t>
            </a:r>
            <a:endParaRPr lang="en-US" sz="850" dirty="0"/>
          </a:p>
        </p:txBody>
      </p:sp>
      <p:pic>
        <p:nvPicPr>
          <p:cNvPr id="59" name="Image 11" descr="/home/user/geogria/tools/pdfbuild/img/am_geghard.jp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2862072" y="4992624"/>
            <a:ext cx="2157984" cy="118872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pic>
      <p:sp>
        <p:nvSpPr>
          <p:cNvPr id="60" name="Shape 46"/>
          <p:cNvSpPr/>
          <p:nvPr/>
        </p:nvSpPr>
        <p:spPr>
          <a:xfrm>
            <a:off x="2926080" y="5056632"/>
            <a:ext cx="658368" cy="237744"/>
          </a:xfrm>
          <a:prstGeom prst="roundRect">
            <a:avLst>
              <a:gd name="adj" fmla="val 19231"/>
            </a:avLst>
          </a:prstGeom>
          <a:solidFill>
            <a:srgbClr val="D59A3C"/>
          </a:solidFill>
          <a:ln w="12700">
            <a:solidFill>
              <a:srgbClr val="D59A3C"/>
            </a:solidFill>
            <a:prstDash val="solid"/>
          </a:ln>
        </p:spPr>
      </p:sp>
      <p:sp>
        <p:nvSpPr>
          <p:cNvPr id="61" name="Text 47"/>
          <p:cNvSpPr txBox="1"/>
          <p:nvPr/>
        </p:nvSpPr>
        <p:spPr>
          <a:xfrm>
            <a:off x="2926080" y="5056632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D14</a:t>
            </a:r>
            <a:endParaRPr lang="en-US" sz="900" dirty="0"/>
          </a:p>
        </p:txBody>
      </p:sp>
      <p:sp>
        <p:nvSpPr>
          <p:cNvPr id="62" name="Text 48"/>
          <p:cNvSpPr txBox="1"/>
          <p:nvPr/>
        </p:nvSpPr>
        <p:spPr>
          <a:xfrm>
            <a:off x="2862072" y="6217920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Garni · Geghard</a:t>
            </a:r>
            <a:endParaRPr lang="en-US" sz="1050" dirty="0"/>
          </a:p>
        </p:txBody>
      </p:sp>
      <p:sp>
        <p:nvSpPr>
          <p:cNvPr id="63" name="Text 49"/>
          <p:cNvSpPr txBox="1"/>
          <p:nvPr/>
        </p:nvSpPr>
        <p:spPr>
          <a:xfrm>
            <a:off x="2862072" y="6419088"/>
            <a:ext cx="2157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A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8/10</a:t>
            </a:r>
            <a:endParaRPr lang="en-US" sz="850" dirty="0"/>
          </a:p>
        </p:txBody>
      </p:sp>
      <p:pic>
        <p:nvPicPr>
          <p:cNvPr id="64" name="Image 12" descr="/home/user/geogria/tools/pdfbuild/img/ge_tbilisi.jp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5175504" y="4992624"/>
            <a:ext cx="2157984" cy="118872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pic>
      <p:sp>
        <p:nvSpPr>
          <p:cNvPr id="65" name="Shape 50"/>
          <p:cNvSpPr/>
          <p:nvPr/>
        </p:nvSpPr>
        <p:spPr>
          <a:xfrm>
            <a:off x="5239512" y="5056632"/>
            <a:ext cx="658368" cy="237744"/>
          </a:xfrm>
          <a:prstGeom prst="roundRect">
            <a:avLst>
              <a:gd name="adj" fmla="val 19231"/>
            </a:avLst>
          </a:prstGeom>
          <a:solidFill>
            <a:srgbClr val="D59A3C"/>
          </a:solidFill>
          <a:ln w="12700">
            <a:solidFill>
              <a:srgbClr val="D59A3C"/>
            </a:solidFill>
            <a:prstDash val="solid"/>
          </a:ln>
        </p:spPr>
      </p:sp>
      <p:sp>
        <p:nvSpPr>
          <p:cNvPr id="66" name="Text 51"/>
          <p:cNvSpPr txBox="1"/>
          <p:nvPr/>
        </p:nvSpPr>
        <p:spPr>
          <a:xfrm>
            <a:off x="5239512" y="5056632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D15–16</a:t>
            </a:r>
            <a:endParaRPr lang="en-US" sz="900" dirty="0"/>
          </a:p>
        </p:txBody>
      </p:sp>
      <p:sp>
        <p:nvSpPr>
          <p:cNvPr id="67" name="Text 52"/>
          <p:cNvSpPr txBox="1"/>
          <p:nvPr/>
        </p:nvSpPr>
        <p:spPr>
          <a:xfrm>
            <a:off x="5175504" y="6217920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第比利斯</a:t>
            </a:r>
            <a:endParaRPr lang="en-US" sz="1050" dirty="0"/>
          </a:p>
        </p:txBody>
      </p:sp>
      <p:sp>
        <p:nvSpPr>
          <p:cNvPr id="68" name="Text 53"/>
          <p:cNvSpPr txBox="1"/>
          <p:nvPr/>
        </p:nvSpPr>
        <p:spPr>
          <a:xfrm>
            <a:off x="5175504" y="6419088"/>
            <a:ext cx="2157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A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9–10/10</a:t>
            </a:r>
            <a:endParaRPr lang="en-US" sz="850" dirty="0"/>
          </a:p>
        </p:txBody>
      </p:sp>
      <p:pic>
        <p:nvPicPr>
          <p:cNvPr id="69" name="Image 13" descr="/home/user/geogria/tools/pdfbuild/img/doha_nmoq.jpg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7488936" y="4992624"/>
            <a:ext cx="2157984" cy="118872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pic>
      <p:sp>
        <p:nvSpPr>
          <p:cNvPr id="70" name="Shape 54"/>
          <p:cNvSpPr/>
          <p:nvPr/>
        </p:nvSpPr>
        <p:spPr>
          <a:xfrm>
            <a:off x="7552944" y="5056632"/>
            <a:ext cx="658368" cy="237744"/>
          </a:xfrm>
          <a:prstGeom prst="roundRect">
            <a:avLst>
              <a:gd name="adj" fmla="val 19231"/>
            </a:avLst>
          </a:prstGeom>
          <a:solidFill>
            <a:srgbClr val="D59A3C"/>
          </a:solidFill>
          <a:ln w="12700">
            <a:solidFill>
              <a:srgbClr val="D59A3C"/>
            </a:solidFill>
            <a:prstDash val="solid"/>
          </a:ln>
        </p:spPr>
      </p:sp>
      <p:sp>
        <p:nvSpPr>
          <p:cNvPr id="71" name="Text 55"/>
          <p:cNvSpPr txBox="1"/>
          <p:nvPr/>
        </p:nvSpPr>
        <p:spPr>
          <a:xfrm>
            <a:off x="7552944" y="5056632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D17</a:t>
            </a:r>
            <a:endParaRPr lang="en-US" sz="900" dirty="0"/>
          </a:p>
        </p:txBody>
      </p:sp>
      <p:sp>
        <p:nvSpPr>
          <p:cNvPr id="72" name="Text 56"/>
          <p:cNvSpPr txBox="1"/>
          <p:nvPr/>
        </p:nvSpPr>
        <p:spPr>
          <a:xfrm>
            <a:off x="7488936" y="6217920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多哈 → 吉隆坡 → 香港</a:t>
            </a:r>
            <a:endParaRPr lang="en-US" sz="1050" dirty="0"/>
          </a:p>
        </p:txBody>
      </p:sp>
      <p:sp>
        <p:nvSpPr>
          <p:cNvPr id="73" name="Text 57"/>
          <p:cNvSpPr txBox="1"/>
          <p:nvPr/>
        </p:nvSpPr>
        <p:spPr>
          <a:xfrm>
            <a:off x="7488936" y="6419088"/>
            <a:ext cx="2157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A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11/10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D3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一眼睇晒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50" kern="0" dirty="0">
                <a:solidFill>
                  <a:srgbClr val="D59A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BY THE NUMBERS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609344"/>
            <a:ext cx="3529584" cy="1883664"/>
          </a:xfrm>
          <a:prstGeom prst="roundRect">
            <a:avLst>
              <a:gd name="adj" fmla="val 3883"/>
            </a:avLst>
          </a:prstGeom>
          <a:solidFill>
            <a:srgbClr val="2E4A43"/>
          </a:solidFill>
          <a:ln w="12700">
            <a:solidFill>
              <a:srgbClr val="3C5A4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59536" y="1938528"/>
            <a:ext cx="298094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17</a:t>
            </a:r>
            <a:pPr indent="0" marL="0">
              <a:buNone/>
            </a:pPr>
            <a:r>
              <a:rPr lang="en-US" sz="1500" dirty="0">
                <a:solidFill>
                  <a:srgbClr val="D59A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日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859536" y="2798064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3D2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香港出發、香港返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52544" y="1609344"/>
            <a:ext cx="3529584" cy="1883664"/>
          </a:xfrm>
          <a:prstGeom prst="roundRect">
            <a:avLst>
              <a:gd name="adj" fmla="val 3883"/>
            </a:avLst>
          </a:prstGeom>
          <a:solidFill>
            <a:srgbClr val="2E4A43"/>
          </a:solidFill>
          <a:ln w="12700">
            <a:solidFill>
              <a:srgbClr val="3C5A4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63440" y="1938528"/>
            <a:ext cx="298094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pPr indent="0" marL="0">
              <a:buNone/>
            </a:pPr>
            <a:r>
              <a:rPr lang="en-US" sz="1500" dirty="0">
                <a:solidFill>
                  <a:srgbClr val="D59A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日電單車</a:t>
            </a:r>
            <a:endParaRPr lang="en-US" sz="46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2798064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3D2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29/9 – 6/10 · 格魯吉亞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56448" y="1609344"/>
            <a:ext cx="3529584" cy="1883664"/>
          </a:xfrm>
          <a:prstGeom prst="roundRect">
            <a:avLst>
              <a:gd name="adj" fmla="val 3883"/>
            </a:avLst>
          </a:prstGeom>
          <a:solidFill>
            <a:srgbClr val="2E4A43"/>
          </a:solidFill>
          <a:ln w="12700">
            <a:solidFill>
              <a:srgbClr val="3C5A4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67344" y="1938528"/>
            <a:ext cx="298094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1,500</a:t>
            </a:r>
            <a:pPr indent="0" marL="0">
              <a:buNone/>
            </a:pPr>
            <a:r>
              <a:rPr lang="en-US" sz="1500" dirty="0">
                <a:solidFill>
                  <a:srgbClr val="D59A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km</a:t>
            </a:r>
            <a:endParaRPr lang="en-US" sz="4600" dirty="0"/>
          </a:p>
        </p:txBody>
      </p:sp>
      <p:sp>
        <p:nvSpPr>
          <p:cNvPr id="12" name="Text 10"/>
          <p:cNvSpPr txBox="1"/>
          <p:nvPr/>
        </p:nvSpPr>
        <p:spPr>
          <a:xfrm>
            <a:off x="8467344" y="2798064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3D2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電單車里程（另包車 400 km）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767328"/>
            <a:ext cx="3529584" cy="1883664"/>
          </a:xfrm>
          <a:prstGeom prst="roundRect">
            <a:avLst>
              <a:gd name="adj" fmla="val 3883"/>
            </a:avLst>
          </a:prstGeom>
          <a:solidFill>
            <a:srgbClr val="2E4A43"/>
          </a:solidFill>
          <a:ln w="12700">
            <a:solidFill>
              <a:srgbClr val="3C5A4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59536" y="4096512"/>
            <a:ext cx="298094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2,623</a:t>
            </a:r>
            <a:pPr indent="0" marL="0">
              <a:buNone/>
            </a:pPr>
            <a:r>
              <a:rPr lang="en-US" sz="1500" dirty="0">
                <a:solidFill>
                  <a:srgbClr val="D59A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m</a:t>
            </a:r>
            <a:endParaRPr lang="en-US" sz="4600" dirty="0"/>
          </a:p>
        </p:txBody>
      </p:sp>
      <p:sp>
        <p:nvSpPr>
          <p:cNvPr id="15" name="Text 13"/>
          <p:cNvSpPr txBox="1"/>
          <p:nvPr/>
        </p:nvSpPr>
        <p:spPr>
          <a:xfrm>
            <a:off x="859536" y="4956048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3D2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最高點 Zagari 山口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52544" y="3767328"/>
            <a:ext cx="3529584" cy="1883664"/>
          </a:xfrm>
          <a:prstGeom prst="roundRect">
            <a:avLst>
              <a:gd name="adj" fmla="val 3883"/>
            </a:avLst>
          </a:prstGeom>
          <a:solidFill>
            <a:srgbClr val="2E4A43"/>
          </a:solidFill>
          <a:ln w="12700">
            <a:solidFill>
              <a:srgbClr val="3C5A4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63440" y="4096512"/>
            <a:ext cx="298094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</a:t>
            </a:r>
            <a:pPr indent="0" marL="0">
              <a:buNone/>
            </a:pPr>
            <a:r>
              <a:rPr lang="en-US" sz="1500" dirty="0">
                <a:solidFill>
                  <a:srgbClr val="D59A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晚</a:t>
            </a:r>
            <a:endParaRPr lang="en-US" sz="4600" dirty="0"/>
          </a:p>
        </p:txBody>
      </p:sp>
      <p:sp>
        <p:nvSpPr>
          <p:cNvPr id="18" name="Text 16"/>
          <p:cNvSpPr txBox="1"/>
          <p:nvPr/>
        </p:nvSpPr>
        <p:spPr>
          <a:xfrm>
            <a:off x="4663440" y="4956048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3D2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住宿全部已訂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56448" y="3767328"/>
            <a:ext cx="3529584" cy="1883664"/>
          </a:xfrm>
          <a:prstGeom prst="roundRect">
            <a:avLst>
              <a:gd name="adj" fmla="val 3883"/>
            </a:avLst>
          </a:prstGeom>
          <a:solidFill>
            <a:srgbClr val="2E4A43"/>
          </a:solidFill>
          <a:ln w="12700">
            <a:solidFill>
              <a:srgbClr val="3C5A4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467344" y="4096512"/>
            <a:ext cx="298094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72</a:t>
            </a:r>
            <a:pPr indent="0" marL="0">
              <a:buNone/>
            </a:pPr>
            <a:r>
              <a:rPr lang="en-US" sz="1500" dirty="0">
                <a:solidFill>
                  <a:srgbClr val="D59A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個座標</a:t>
            </a:r>
            <a:endParaRPr lang="en-US" sz="4600" dirty="0"/>
          </a:p>
        </p:txBody>
      </p:sp>
      <p:sp>
        <p:nvSpPr>
          <p:cNvPr id="21" name="Text 19"/>
          <p:cNvSpPr txBox="1"/>
          <p:nvPr/>
        </p:nvSpPr>
        <p:spPr>
          <a:xfrm>
            <a:off x="8467344" y="4956048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3D2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可匯入 Google My Maps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089904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A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香港 → 吉隆坡 → 多哈 → 第比利斯 → 卡茲別吉 → 卡赫季 → 庫塔伊西 → 斯瓦涅季 → 耶烈萬 → 第比利斯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機票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50976"/>
            <a:ext cx="8778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FLIGHTS · Qatar Airways Holidays 套票 + 國泰香港段 + FlyOne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777240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960120"/>
                <a:gridCol w="822960"/>
                <a:gridCol w="914400"/>
                <a:gridCol w="2286000"/>
                <a:gridCol w="173736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日期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航班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起飛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抵達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航段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備註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25/9 五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3B3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CX 733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21:30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01:30+1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香港 HKG → 吉隆坡 KUL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國泰 · 另一張機票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26/9 六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3B3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QR 855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21:50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23:55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吉隆坡 KUL T1 → 多哈 DOH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經濟艙 · 25kg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28/9 一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3B3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QR 253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15:30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20:10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多哈 DOH → 第比利斯 TBS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經濟艙 · 25kg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9/10 五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3B3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3F 583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11:00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11:40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耶烈萬 EVN → 第比利斯 TBS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FlyOne A320 · ✅已訂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10/10 六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3B3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QR 256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14:00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16:15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第比利斯 TBS → 多哈 DOH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經濟艙 · 25kg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11/10 日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3B3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QR 852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02:35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15:10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多哈 DOH → 吉隆坡 KUL T1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經濟艙 · 25kg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11/10 日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3B3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CX 724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17:40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22:00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吉隆坡 KUL → 香港 HKG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⚠️只得 2h30 轉機 · 另一張票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595360" y="1481328"/>
            <a:ext cx="3063240" cy="2286000"/>
          </a:xfrm>
          <a:prstGeom prst="roundRect">
            <a:avLst>
              <a:gd name="adj" fmla="val 3200"/>
            </a:avLst>
          </a:prstGeom>
          <a:solidFill>
            <a:srgbClr val="EEF2F0"/>
          </a:solidFill>
          <a:ln w="12700">
            <a:solidFill>
              <a:srgbClr val="D6DED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851392" y="1664208"/>
            <a:ext cx="2551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6B7A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訂位編號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8851392" y="1865376"/>
            <a:ext cx="2551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Q878Z4FG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8851392" y="2231136"/>
            <a:ext cx="2551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3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航空公司訂位編號　8AWON6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851392" y="2542032"/>
            <a:ext cx="2551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33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USD 1,676（機票 819.22 + 稅 856.78）· 已付清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8851392" y="3017520"/>
            <a:ext cx="2551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A4D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⚠️ 座位同餐飲偏好未指定 — 上 qatarairways.com 用 8AWON6 揀位</a:t>
            </a:r>
            <a:endParaRPr lang="en-US" sz="95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595360" y="3977640"/>
          <a:ext cx="306324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960120"/>
                <a:gridCol w="11430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旅客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出生日期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機票號碼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Mr King Yip Lo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1985-04-09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1572138506351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Mr Wai Kit Chu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1988-10-31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1572138506352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2" name="Image 0" descr="/home/user/geogria/tools/pdfbuild/img/doha_mi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4572000"/>
            <a:ext cx="3749040" cy="1691640"/>
          </a:xfrm>
          <a:prstGeom prst="rect">
            <a:avLst/>
          </a:prstGeom>
          <a:effectLst>
            <a:outerShdw sx="100000" sy="100000" kx="0" ky="0" algn="bl" rotWithShape="0" blurRad="127000" dist="25400" dir="5400000">
              <a:srgbClr val="000000">
                <a:alpha val="22000"/>
              </a:srgbClr>
            </a:outerShdw>
          </a:effectLst>
        </p:spPr>
      </p:pic>
      <p:pic>
        <p:nvPicPr>
          <p:cNvPr id="13" name="Image 1" descr="/home/user/geogria/tools/pdfbuild/img/kl_petronas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480560" y="4572000"/>
            <a:ext cx="3840480" cy="1691640"/>
          </a:xfrm>
          <a:prstGeom prst="rect">
            <a:avLst/>
          </a:prstGeom>
          <a:effectLst>
            <a:outerShdw sx="100000" sy="100000" kx="0" ky="0" algn="bl" rotWithShape="0" blurRad="127000" dist="25400" dir="5400000">
              <a:srgbClr val="000000">
                <a:alpha val="22000"/>
              </a:srgbClr>
            </a:outerShdw>
          </a:effectLst>
        </p:spPr>
      </p:pic>
      <p:sp>
        <p:nvSpPr>
          <p:cNvPr id="14" name="Text 8"/>
          <p:cNvSpPr txBox="1"/>
          <p:nvPr/>
        </p:nvSpPr>
        <p:spPr>
          <a:xfrm>
            <a:off x="548640" y="6473952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A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📷 伊斯蘭藝術博物館 MIA · 多哈（jemasmith · CC BY 2.0）　·　雙子塔 Petronas Twin Towers · 吉隆坡（Simon_sees · CC BY 2.0）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住宿訂單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50976"/>
            <a:ext cx="8778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BOOKINGS · 14 / 14 晚已訂 · 由 25/9 吉隆坡到 9/10 第比利斯，冇一晚 gap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2880360"/>
                <a:gridCol w="1371600"/>
                <a:gridCol w="384048"/>
                <a:gridCol w="1234440"/>
                <a:gridCol w="1234440"/>
                <a:gridCol w="272491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日期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酒店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城市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晚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平台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金額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備註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3B3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25–26/9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Eaton Residence Unique Home KLCC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吉隆坡 Kuala Lumpur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Booking.com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HK$694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免費取消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3B3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26–28/9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Souq Al Wakra Hotel By Tivoli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多哈 Al Wakra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Qatar Holidays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套票內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套票條款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3B3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28–29/9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Pura Vida Boutique Hotel Tbilisi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第比利斯 Tbilisi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Booking.com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HK$398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免費取消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3B3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29/9–1/10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Landscapes Hotel Kazbegi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卡茲別吉 Kazbegi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（待補）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（待補）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鎮內 Marjanishvili St · 5 房小酒店 · 露台山景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3B3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1–2/10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Schuchmann Wines Chateau, Villas &amp; SPA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卡赫季 Kisiskhevi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酒莊直接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GEL 525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含品酒晚餐+SPA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3B3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2–3/10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AUTOGRAPH Kutaisi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庫塔伊西 Kutaisi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Booking.com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9.7 傑出 · 110a Gelati St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3B3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3–4/10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Guest House Keti Margiani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梅斯蒂亞 Mestia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Agoda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3B3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4–5/10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Mountain house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烏樹故里 Ushguli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Agoda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3B3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5–6/10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Newport Hotel Kutaisi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庫塔伊西 Kutaisi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Agoda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3B3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6–7/10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Fabrika Hostel &amp; Suites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第比利斯 Tbilisi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Booking.com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HK$389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不可退款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3B3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7–9/10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R&amp;R Hotel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耶烈萬 Yerevan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Trip.com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HK$1,121.50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3B3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9–10/10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Fabrika Hostel &amp; Suites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第比利斯 Tbilisi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Booking.com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HK$425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不可退款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94360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EF2F0"/>
          </a:solidFill>
          <a:ln w="12700">
            <a:solidFill>
              <a:srgbClr val="C9DAC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5943600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仲欠：7/10 GoTrip 包車 · 租車改期 · Landscapes Hotel 訂單編號同金額待補　|　已知已付 ≈ HK$17,650（未計 Agoda 3 晚）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租車 · SLAVATOUR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50976"/>
            <a:ext cx="8778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RENTAL · KTM-Georgia（基地就喺 Camp Hotel Pura Vida）· 2 × KTM 690 · 29 Sep – 6 Oct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1790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聯絡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965960" y="1517904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33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Slava Tavartkiladze · ktm-georgia.com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9339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車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965960" y="199339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33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× KTM 690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4688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租期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965960" y="246888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33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29 Sep – 6 Oct 2026（8日）⚠️ 原 reserve 26 Sep–6 Oct，要改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94436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押金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965960" y="294436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33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€850 / 車 = €1,700（Visa／現金／轉賬）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41985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保險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965960" y="3419856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33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Kasko 全保（條款待收；要問碎石路保唔保）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89534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牌照要求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965960" y="3895344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33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牌 + 持牌滿 1 年（&gt;500cc）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37083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亞美尼亞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965960" y="437083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33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❌ 唔過境 → 唔使 250 GEL×2 授權書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8463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行李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965960" y="484632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33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建議軟袋（唔用硬箱）</a:t>
            </a:r>
            <a:endParaRPr lang="en-US" sz="1050" dirty="0"/>
          </a:p>
        </p:txBody>
      </p:sp>
      <p:pic>
        <p:nvPicPr>
          <p:cNvPr id="20" name="Image 0" descr="/home/user/geogria/tools/pdfbuild/img/ge_zagari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98080" y="1517904"/>
            <a:ext cx="4114800" cy="2331720"/>
          </a:xfrm>
          <a:prstGeom prst="rect">
            <a:avLst/>
          </a:prstGeom>
          <a:effectLst>
            <a:outerShdw sx="100000" sy="100000" kx="0" ky="0" algn="bl" rotWithShape="0" blurRad="127000" dist="25400" dir="5400000">
              <a:srgbClr val="000000">
                <a:alpha val="22000"/>
              </a:srgbClr>
            </a:outerShdw>
          </a:effectLst>
        </p:spPr>
      </p:pic>
      <p:sp>
        <p:nvSpPr>
          <p:cNvPr id="21" name="Text 18"/>
          <p:cNvSpPr txBox="1"/>
          <p:nvPr/>
        </p:nvSpPr>
        <p:spPr>
          <a:xfrm>
            <a:off x="7498080" y="390448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A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Zagari 山口（2,620m）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7498080" y="4224528"/>
            <a:ext cx="4114800" cy="2011680"/>
          </a:xfrm>
          <a:prstGeom prst="roundRect">
            <a:avLst>
              <a:gd name="adj" fmla="val 3636"/>
            </a:avLst>
          </a:prstGeom>
          <a:solidFill>
            <a:srgbClr val="FDF4EC"/>
          </a:solidFill>
          <a:ln w="12700">
            <a:solidFill>
              <a:srgbClr val="E8CDA9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772400" y="43708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4D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⚠️ 取車日要做嘅嘢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7772400" y="4681728"/>
            <a:ext cx="3566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33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逐格拍片記錄車身花痕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33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簽約 · 畀 €850 × 2 押金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33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裝軟袋、確認車牌同文件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33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車行 09:00 先開 — 問可唔可以 08:00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6473952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A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📷 Zagari 山口（2,620m）（Gytis Liutkus · CC BY 2.0）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078992" cy="329184"/>
          </a:xfrm>
          <a:prstGeom prst="roundRect">
            <a:avLst>
              <a:gd name="adj" fmla="val 16667"/>
            </a:avLst>
          </a:prstGeom>
          <a:solidFill>
            <a:srgbClr val="D59A3C"/>
          </a:solidFill>
          <a:ln w="12700">
            <a:solidFill>
              <a:srgbClr val="D59A3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1078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01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755648" y="30175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9月25日（五）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26280" y="33832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4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香港 → 吉隆坡（夜機）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945575" y="33832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59A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CX733 21:30　·　01:30+1 到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969264"/>
          <a:ext cx="6766560" cy="914400"/>
        </p:xfrm>
        <a:graphic>
          <a:graphicData uri="http://schemas.openxmlformats.org/drawingml/2006/table">
            <a:tbl>
              <a:tblPr/>
              <a:tblGrid>
                <a:gridCol w="713232"/>
                <a:gridCol w="4498848"/>
                <a:gridCol w="155448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D3B3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時間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D3B3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行程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D3B3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行車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18:30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到香港機場 · check-in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21:30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CX 733 起飛 香港 → 吉隆坡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✈️ 4h00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01:30+1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到吉隆坡 KLIA（已經係 26/9 凌晨）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🚕 57 km · 45 分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8" name="Image 0" descr="/home/user/geogria/tools/pdfbuild/img/kl_petrona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26680" y="969264"/>
            <a:ext cx="3913632" cy="1938528"/>
          </a:xfrm>
          <a:prstGeom prst="rect">
            <a:avLst/>
          </a:prstGeom>
          <a:effectLst>
            <a:outerShdw sx="100000" sy="100000" kx="0" ky="0" algn="bl" rotWithShape="0" blurRad="127000" dist="25400" dir="5400000">
              <a:srgbClr val="000000">
                <a:alpha val="22000"/>
              </a:srgbClr>
            </a:outerShdw>
          </a:effectLst>
        </p:spPr>
      </p:pic>
      <p:sp>
        <p:nvSpPr>
          <p:cNvPr id="9" name="Text 5"/>
          <p:cNvSpPr txBox="1"/>
          <p:nvPr/>
        </p:nvSpPr>
        <p:spPr>
          <a:xfrm>
            <a:off x="7726680" y="2935224"/>
            <a:ext cx="3913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A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雙子塔 Petronas Twin Towers · 吉隆坡</a:t>
            </a:r>
            <a:endParaRPr lang="en-US" sz="800" dirty="0"/>
          </a:p>
        </p:txBody>
      </p:sp>
      <p:sp>
        <p:nvSpPr>
          <p:cNvPr id="10" name="Shape 6"/>
          <p:cNvSpPr/>
          <p:nvPr/>
        </p:nvSpPr>
        <p:spPr>
          <a:xfrm>
            <a:off x="7726680" y="3163824"/>
            <a:ext cx="3913632" cy="932815"/>
          </a:xfrm>
          <a:prstGeom prst="roundRect">
            <a:avLst>
              <a:gd name="adj" fmla="val 7842"/>
            </a:avLst>
          </a:prstGeom>
          <a:solidFill>
            <a:srgbClr val="EEF2F0"/>
          </a:solidFill>
          <a:ln w="12700">
            <a:solidFill>
              <a:srgbClr val="D6DED9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927848" y="3236976"/>
            <a:ext cx="3511296" cy="2439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🏨 Eaton Residence Unique Home KLCC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7927848" y="3480943"/>
            <a:ext cx="351129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33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26 Jalan Kia Peng, 50450 Kuala Lumpur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33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Booking.com · HK$694 · 25–26/9 · 免費取消 · ⚠️01:30 夜到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7726680" y="4224655"/>
            <a:ext cx="3913632" cy="841248"/>
          </a:xfrm>
          <a:prstGeom prst="roundRect">
            <a:avLst>
              <a:gd name="adj" fmla="val 8696"/>
            </a:avLst>
          </a:prstGeom>
          <a:solidFill>
            <a:srgbClr val="F6F9F7"/>
          </a:solidFill>
          <a:ln w="12700">
            <a:solidFill>
              <a:srgbClr val="D6DED9"/>
            </a:solidFill>
            <a:prstDash val="solid"/>
          </a:ln>
        </p:spPr>
      </p:sp>
      <p:pic>
        <p:nvPicPr>
          <p:cNvPr id="14" name="Image 1" descr="/home/user/geogria/tools/pdfbuild/img/qr/DAY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6408" y="4316095"/>
            <a:ext cx="658368" cy="65836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604504" y="4316095"/>
            <a:ext cx="2871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🗺 掃我開 Google Maps 路線</a:t>
            </a:r>
            <a:endParaRPr lang="en-US" sz="950" dirty="0"/>
          </a:p>
        </p:txBody>
      </p:sp>
      <p:sp>
        <p:nvSpPr>
          <p:cNvPr id="16" name="Text 11"/>
          <p:cNvSpPr txBox="1"/>
          <p:nvPr/>
        </p:nvSpPr>
        <p:spPr>
          <a:xfrm>
            <a:off x="8604504" y="4553839"/>
            <a:ext cx="2871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A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✈️ 機場接駁／的士 · 57 km · 約 0:45 車程（另 ✈️ 4h00）</a:t>
            </a:r>
            <a:endParaRPr lang="en-US" sz="800" dirty="0"/>
          </a:p>
        </p:txBody>
      </p:sp>
      <p:sp>
        <p:nvSpPr>
          <p:cNvPr id="17" name="Shape 12"/>
          <p:cNvSpPr/>
          <p:nvPr/>
        </p:nvSpPr>
        <p:spPr>
          <a:xfrm>
            <a:off x="7726680" y="5193919"/>
            <a:ext cx="3913632" cy="1247648"/>
          </a:xfrm>
          <a:prstGeom prst="roundRect">
            <a:avLst>
              <a:gd name="adj" fmla="val 5863"/>
            </a:avLst>
          </a:prstGeom>
          <a:solidFill>
            <a:srgbClr val="FDF4EC"/>
          </a:solidFill>
          <a:ln w="12700">
            <a:solidFill>
              <a:srgbClr val="E8CDA9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7909560" y="5276215"/>
            <a:ext cx="3547872" cy="1083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4D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⚠️ ✅ HK⇄KL 機票已訂（CX733／CX724）· 同 Qatar 段係兩張唔同機票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A4D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⚠️ ⚠️ 01:30 先到 KL — 26/9 嘅住宿（25–26/9 嗰晚）覆蓋到，但一定要提前同「Unique Home」WhatsApp 約定夜間自助 check-in 密碼，唔係 03:00 冇人開門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A4D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🗺 地面段只有 KLIA T1→Eaton（01:30 落機後 Grab，約 45 分）。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078992" cy="329184"/>
          </a:xfrm>
          <a:prstGeom prst="roundRect">
            <a:avLst>
              <a:gd name="adj" fmla="val 16667"/>
            </a:avLst>
          </a:prstGeom>
          <a:solidFill>
            <a:srgbClr val="D59A3C"/>
          </a:solidFill>
          <a:ln w="12700">
            <a:solidFill>
              <a:srgbClr val="D59A3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1078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02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755648" y="30175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9月26日（六）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26280" y="33832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4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吉隆坡（01:30 到）→ 全日 → 飛多哈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945575" y="33832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59A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QR855 21:50　·　⚠️夜機到，會攰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92040" y="969264"/>
          <a:ext cx="6766560" cy="914400"/>
        </p:xfrm>
        <a:graphic>
          <a:graphicData uri="http://schemas.openxmlformats.org/drawingml/2006/table">
            <a:tbl>
              <a:tblPr/>
              <a:tblGrid>
                <a:gridCol w="713232"/>
                <a:gridCol w="4498848"/>
                <a:gridCol w="1554480"/>
              </a:tblGrid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D3B3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時間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D3B3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行程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D3B3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行車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01:30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CX733 落地 KLIA · 入境取行李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02:15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Grab 入城（夜晚冇塞車，45 分鐘，RM75–110）— ⚠️KLIA Ekspres 首班約 05:00，等唔到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🚕 57 km · 45 分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03:00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到 Eaton Residences · 自助 check-in（密碼／lockbox，要預先 WhatsApp 約定）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09:30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瞓醒 · 附近早餐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11:00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雙子塔 Skybridge + L86（步行 18–20 分鐘或 Grab · 要預先網上訂時段）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🚶 1.5 km · 18–20 分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12:00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Check-out（11:00–12:00，睇 operator）⚠️冇行李寄存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🚶 1.5 km · 20 分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12:30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去 KL Sentral 放行李入 Dr. Locker 自動櫃（MRT Conlay 站行 5 分鐘上車）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🚇 MRT 5 km · 25–30 分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13:30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午餐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14:30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伊斯蘭藝術博物館 IAMM（RM20 · 冷氣）— 唔想去博物館？落雨→BSAS 蘇丹阿都沙末大樓展廳（2026/2 重開，免費）；好天→天后宮（免費，望全城）或 Kampung Baru 馬來村…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🚶 1.2 km · 15 分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16:30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唐人街／中央市場（近 KL Sentral，可避雨）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🚶 1.2 km · 15 分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17:15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早晚餐（茨廠街一帶，最近 KL Sentral）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18:15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取行李 → KLIA Ekspres（RM55 · 28 分鐘）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🚶 1.5 km · 18 分 + 🚆 KLIA Ekspres 28 分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18:50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到 KLIA Terminal 1（Qatar 用 T1）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21:50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QR 855 起飛 → 多哈 23:55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✈️ 7h05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8" name="Image 0" descr="/home/user/geogria/tools/pdfbuild/img/kl_iamm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969264"/>
            <a:ext cx="3913632" cy="1938528"/>
          </a:xfrm>
          <a:prstGeom prst="rect">
            <a:avLst/>
          </a:prstGeom>
          <a:effectLst>
            <a:outerShdw sx="100000" sy="100000" kx="0" ky="0" algn="bl" rotWithShape="0" blurRad="127000" dist="25400" dir="5400000">
              <a:srgbClr val="000000">
                <a:alpha val="22000"/>
              </a:srgbClr>
            </a:outerShdw>
          </a:effectLst>
        </p:spPr>
      </p:pic>
      <p:sp>
        <p:nvSpPr>
          <p:cNvPr id="9" name="Text 5"/>
          <p:cNvSpPr txBox="1"/>
          <p:nvPr/>
        </p:nvSpPr>
        <p:spPr>
          <a:xfrm>
            <a:off x="548640" y="2935224"/>
            <a:ext cx="3913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A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伊斯蘭藝術博物館 IAMM · 吉隆坡</a:t>
            </a:r>
            <a:endParaRPr lang="en-US" sz="800" dirty="0"/>
          </a:p>
        </p:txBody>
      </p:sp>
      <p:sp>
        <p:nvSpPr>
          <p:cNvPr id="10" name="Shape 6"/>
          <p:cNvSpPr/>
          <p:nvPr/>
        </p:nvSpPr>
        <p:spPr>
          <a:xfrm>
            <a:off x="548640" y="3163824"/>
            <a:ext cx="3913632" cy="499999"/>
          </a:xfrm>
          <a:prstGeom prst="roundRect">
            <a:avLst>
              <a:gd name="adj" fmla="val 14630"/>
            </a:avLst>
          </a:prstGeom>
          <a:solidFill>
            <a:srgbClr val="EEF2F0"/>
          </a:solidFill>
          <a:ln w="12700">
            <a:solidFill>
              <a:srgbClr val="D6DED9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49808" y="3236976"/>
            <a:ext cx="3511296" cy="2439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🏨 ✈️ 過夜機上／多哈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749808" y="3480943"/>
            <a:ext cx="351129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548640" y="3791839"/>
            <a:ext cx="3913632" cy="841248"/>
          </a:xfrm>
          <a:prstGeom prst="roundRect">
            <a:avLst>
              <a:gd name="adj" fmla="val 8696"/>
            </a:avLst>
          </a:prstGeom>
          <a:solidFill>
            <a:srgbClr val="F6F9F7"/>
          </a:solidFill>
          <a:ln w="12700">
            <a:solidFill>
              <a:srgbClr val="D6DED9"/>
            </a:solidFill>
            <a:prstDash val="solid"/>
          </a:ln>
        </p:spPr>
      </p:sp>
      <p:pic>
        <p:nvPicPr>
          <p:cNvPr id="14" name="Image 1" descr="/home/user/geogria/tools/pdfbuild/img/qr/DAY0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883279"/>
            <a:ext cx="658368" cy="65836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426464" y="3883279"/>
            <a:ext cx="2871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🗺 掃我開 Google Maps 路線</a:t>
            </a:r>
            <a:endParaRPr lang="en-US" sz="950" dirty="0"/>
          </a:p>
        </p:txBody>
      </p:sp>
      <p:sp>
        <p:nvSpPr>
          <p:cNvPr id="16" name="Text 11"/>
          <p:cNvSpPr txBox="1"/>
          <p:nvPr/>
        </p:nvSpPr>
        <p:spPr>
          <a:xfrm>
            <a:off x="1426464" y="4121023"/>
            <a:ext cx="2871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A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🚶/🚕 市內（吉隆坡） · 68.9 km · 約 2:25（步行＋MRT＋KLIA Ekspres）</a:t>
            </a:r>
            <a:endParaRPr lang="en-US" sz="800" dirty="0"/>
          </a:p>
        </p:txBody>
      </p:sp>
      <p:sp>
        <p:nvSpPr>
          <p:cNvPr id="17" name="Shape 12"/>
          <p:cNvSpPr/>
          <p:nvPr/>
        </p:nvSpPr>
        <p:spPr>
          <a:xfrm>
            <a:off x="548640" y="4761103"/>
            <a:ext cx="3913632" cy="1103376"/>
          </a:xfrm>
          <a:prstGeom prst="roundRect">
            <a:avLst>
              <a:gd name="adj" fmla="val 6630"/>
            </a:avLst>
          </a:prstGeom>
          <a:solidFill>
            <a:srgbClr val="FDF4EC"/>
          </a:solidFill>
          <a:ln w="12700">
            <a:solidFill>
              <a:srgbClr val="E8CDA9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731520" y="4843399"/>
            <a:ext cx="3547872" cy="938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4D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⚠️ ⚠️ 01:30 到、03:00 先瞓 — 呢日已經按「攰」重排：唔安排黑風洞，改行市區冷氣路線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A4D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⚠️ ⚠️ Eaton 冇前台冇行李寄存 — 12:00 退房後用 KL Sentral Dr. Locker 自動櫃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A4D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🗺 市內以步行＋MRT 為主，連結用車路只作參考；先去 KL Sentral 寄存行李。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078992" cy="329184"/>
          </a:xfrm>
          <a:prstGeom prst="roundRect">
            <a:avLst>
              <a:gd name="adj" fmla="val 16667"/>
            </a:avLst>
          </a:prstGeom>
          <a:solidFill>
            <a:srgbClr val="D59A3C"/>
          </a:solidFill>
          <a:ln w="12700">
            <a:solidFill>
              <a:srgbClr val="D59A3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1078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03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755648" y="30175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9月27日（日）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26280" y="33832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4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多哈全日（Al Wakra 為基地）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945575" y="33832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59A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🏜 日出沙漠團 + 市內　·　38–40°C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969264"/>
          <a:ext cx="6766560" cy="914400"/>
        </p:xfrm>
        <a:graphic>
          <a:graphicData uri="http://schemas.openxmlformats.org/drawingml/2006/table">
            <a:tbl>
              <a:tblPr/>
              <a:tblGrid>
                <a:gridCol w="713232"/>
                <a:gridCol w="4498848"/>
                <a:gridCol w="155448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D3B3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時間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D3B3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行程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D3B3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行車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00:30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到 Souq Al Wakra Hotel by Tivoli，check-in（酒店建議 00:00–01:00 到）· 瞓 2.5 小時（港時 06:00，唔算慘）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03:45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🏜 沙漠內海日出團：酒店門口上 4x4（⚠️要訂，見預約清單；Al Wakra 就喺去 Sealine 嘅路上）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🚙 45 km · 0:40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04:30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Sealine 沙漠入口放氣 → 上沙丘等 05:25 日出（全日最涼 30°C）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🏜 越野 40–60 分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05:30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Dune bashing → Khor Al Adaid 內海（沙丘直插海，對岸沙特）· 影相／落水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08:15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離開 Sealine（硬性，之後 35°C+）→ 09:00 返酒店沖涼、補眠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🚙 45 km · 0:40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11:15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的士／Uber 出市區（約 16 km，20 分鐘）⚠️之後一次過留喺市區，唔好返嚟又出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🚕 16 km · 20 分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12:00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到 NMoQ，先行館內一陣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13:00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✅ Jiwan @ NMoQ 午餐（已訂 13:00 · 2 位）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14:30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卡塔爾國家博物館 NMoQ（沙漠玫瑰，正午嘆冷氣）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🚕 1.7 km · 5 分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16:00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伊斯蘭藝術博物館 MIA（貝聿銘封刀作，開到 19:00）— 的士 5 分鐘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17:30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MIA Park + Corniche 黃昏／dhow 木船（日落 + 藍調時分天際線）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🚶 1.5 km · 15 分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18:30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Souq Waqif 老市集（黃昏先開始旺）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19:30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Souq Waqif 晚餐 + 水煙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🚕 18 km · 25 分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8" name="Image 0" descr="/home/user/geogria/tools/pdfbuild/img/doha_mi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26680" y="969264"/>
            <a:ext cx="3913632" cy="1938528"/>
          </a:xfrm>
          <a:prstGeom prst="rect">
            <a:avLst/>
          </a:prstGeom>
          <a:effectLst>
            <a:outerShdw sx="100000" sy="100000" kx="0" ky="0" algn="bl" rotWithShape="0" blurRad="127000" dist="25400" dir="5400000">
              <a:srgbClr val="000000">
                <a:alpha val="22000"/>
              </a:srgbClr>
            </a:outerShdw>
          </a:effectLst>
        </p:spPr>
      </p:pic>
      <p:sp>
        <p:nvSpPr>
          <p:cNvPr id="9" name="Text 5"/>
          <p:cNvSpPr txBox="1"/>
          <p:nvPr/>
        </p:nvSpPr>
        <p:spPr>
          <a:xfrm>
            <a:off x="7726680" y="2935224"/>
            <a:ext cx="3913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A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伊斯蘭藝術博物館 MIA · 多哈</a:t>
            </a:r>
            <a:endParaRPr lang="en-US" sz="800" dirty="0"/>
          </a:p>
        </p:txBody>
      </p:sp>
      <p:sp>
        <p:nvSpPr>
          <p:cNvPr id="10" name="Shape 6"/>
          <p:cNvSpPr/>
          <p:nvPr/>
        </p:nvSpPr>
        <p:spPr>
          <a:xfrm>
            <a:off x="7726680" y="3163824"/>
            <a:ext cx="3913632" cy="1077087"/>
          </a:xfrm>
          <a:prstGeom prst="roundRect">
            <a:avLst>
              <a:gd name="adj" fmla="val 6792"/>
            </a:avLst>
          </a:prstGeom>
          <a:solidFill>
            <a:srgbClr val="EEF2F0"/>
          </a:solidFill>
          <a:ln w="12700">
            <a:solidFill>
              <a:srgbClr val="D6DED9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927848" y="3236976"/>
            <a:ext cx="3511296" cy="2439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🏨 Souq Al Wakra Hotel By Tivoli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7927848" y="3480943"/>
            <a:ext cx="3511296" cy="63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33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Street 891, Al Loulou, Souq Al Wakrah · +974 4428 7888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33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Q878Z4FG（Qatar 套票） · 套票內 · Check-in 26/9 · Check-out 28/9 13:00–14:00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7726680" y="4368927"/>
            <a:ext cx="3913632" cy="841248"/>
          </a:xfrm>
          <a:prstGeom prst="roundRect">
            <a:avLst>
              <a:gd name="adj" fmla="val 8696"/>
            </a:avLst>
          </a:prstGeom>
          <a:solidFill>
            <a:srgbClr val="F6F9F7"/>
          </a:solidFill>
          <a:ln w="12700">
            <a:solidFill>
              <a:srgbClr val="D6DED9"/>
            </a:solidFill>
            <a:prstDash val="solid"/>
          </a:ln>
        </p:spPr>
      </p:sp>
      <p:pic>
        <p:nvPicPr>
          <p:cNvPr id="14" name="Image 1" descr="/home/user/geogria/tools/pdfbuild/img/qr/DAY0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6408" y="4460367"/>
            <a:ext cx="658368" cy="65836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604504" y="4460367"/>
            <a:ext cx="2871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🗺 掃我開 Google Maps 路線</a:t>
            </a:r>
            <a:endParaRPr lang="en-US" sz="950" dirty="0"/>
          </a:p>
        </p:txBody>
      </p:sp>
      <p:sp>
        <p:nvSpPr>
          <p:cNvPr id="16" name="Text 11"/>
          <p:cNvSpPr txBox="1"/>
          <p:nvPr/>
        </p:nvSpPr>
        <p:spPr>
          <a:xfrm>
            <a:off x="8604504" y="4698111"/>
            <a:ext cx="2871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A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🏜 4x4 日出團 + 🚕 市內（多哈） · 127 km · 約 2:15 車程（含沙漠團來回）</a:t>
            </a:r>
            <a:endParaRPr lang="en-US" sz="800" dirty="0"/>
          </a:p>
        </p:txBody>
      </p:sp>
      <p:sp>
        <p:nvSpPr>
          <p:cNvPr id="17" name="Shape 12"/>
          <p:cNvSpPr/>
          <p:nvPr/>
        </p:nvSpPr>
        <p:spPr>
          <a:xfrm>
            <a:off x="7726680" y="5338191"/>
            <a:ext cx="3913632" cy="1103376"/>
          </a:xfrm>
          <a:prstGeom prst="roundRect">
            <a:avLst>
              <a:gd name="adj" fmla="val 6630"/>
            </a:avLst>
          </a:prstGeom>
          <a:solidFill>
            <a:srgbClr val="FDF4EC"/>
          </a:solidFill>
          <a:ln w="12700">
            <a:solidFill>
              <a:srgbClr val="E8CDA9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7909560" y="5420487"/>
            <a:ext cx="3547872" cy="938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4D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⚠️ 🏜 沙漠團係「飛機唔受影響」嘅一日：團 09:00 完、午餐 13:00，困車 1–2 小時都趕到；唔好放喺 28/9（飛機日）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A4D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⚠️ ⚠️ 酒店喺 Al Wakra，離市中心約 16–20km（20–30 分鐘車） — 沙漠團後一次過入市區，唔好再來回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A4D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🗺 沙漠內海本身冇路，Google 只畫到 Sealine；內海段由團車越野。酒店→市區實際約 16 km／20 分。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078992" cy="329184"/>
          </a:xfrm>
          <a:prstGeom prst="roundRect">
            <a:avLst>
              <a:gd name="adj" fmla="val 16667"/>
            </a:avLst>
          </a:prstGeom>
          <a:solidFill>
            <a:srgbClr val="D59A3C"/>
          </a:solidFill>
          <a:ln w="12700">
            <a:solidFill>
              <a:srgbClr val="D59A3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1078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04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755648" y="30175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9月28日（一）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26280" y="33832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4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多哈 → 第比利斯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945575" y="33832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59A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QR253 15:30　·　晚 20:10 到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92040" y="969264"/>
          <a:ext cx="6766560" cy="914400"/>
        </p:xfrm>
        <a:graphic>
          <a:graphicData uri="http://schemas.openxmlformats.org/drawingml/2006/table">
            <a:tbl>
              <a:tblPr/>
              <a:tblGrid>
                <a:gridCol w="713232"/>
                <a:gridCol w="4498848"/>
                <a:gridCol w="155448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D3B3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時間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D3B3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行程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D3B3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行車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08:00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早餐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09:00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Msheireb 博物館（免費，四間老宅，逢日休所以今朝啱）或 Al Wakra 老市集散步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🚕 24 km · 30 分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11:45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返酒店執嘢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🚕 24 km · 30 分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12:00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Check-out（酒店標準 12:00 · 前一晚問下可唔可以延到 13:00）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12:15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去 DOH 機場 ⚠️唔好等到 14:00（Qatar 14:30 閂櫃）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🚕 15 km · 20 分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12:45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到 Hamad International（12:30 開始收行李 · 機場本身都值得行）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15:30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QR 253 起飛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✈️ 3h40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20:10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到第比利斯 TBS → Magti SIM（15 GEL/5GB）→ ATM 撳 500 GEL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21:00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Bolt 入城（25–35 GEL，30–40 分鐘）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🚕 Bolt 20 km · 30–40 分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21:45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Check-in Pura Vida ⚠️前台官方 19:00 收，一定要書面確認夜到 · 順手辦埋取車手續／放低唔騎車嘅行李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8" name="Image 0" descr="/home/user/geogria/tools/pdfbuild/img/doha_wakr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969264"/>
            <a:ext cx="3913632" cy="1938528"/>
          </a:xfrm>
          <a:prstGeom prst="rect">
            <a:avLst/>
          </a:prstGeom>
          <a:effectLst>
            <a:outerShdw sx="100000" sy="100000" kx="0" ky="0" algn="bl" rotWithShape="0" blurRad="127000" dist="25400" dir="5400000">
              <a:srgbClr val="000000">
                <a:alpha val="22000"/>
              </a:srgbClr>
            </a:outerShdw>
          </a:effectLst>
        </p:spPr>
      </p:pic>
      <p:sp>
        <p:nvSpPr>
          <p:cNvPr id="9" name="Text 5"/>
          <p:cNvSpPr txBox="1"/>
          <p:nvPr/>
        </p:nvSpPr>
        <p:spPr>
          <a:xfrm>
            <a:off x="548640" y="2935224"/>
            <a:ext cx="3913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A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Al Wakra 海濱老市集 · 多哈</a:t>
            </a:r>
            <a:endParaRPr lang="en-US" sz="800" dirty="0"/>
          </a:p>
        </p:txBody>
      </p:sp>
      <p:sp>
        <p:nvSpPr>
          <p:cNvPr id="10" name="Shape 6"/>
          <p:cNvSpPr/>
          <p:nvPr/>
        </p:nvSpPr>
        <p:spPr>
          <a:xfrm>
            <a:off x="548640" y="3163824"/>
            <a:ext cx="3913632" cy="788543"/>
          </a:xfrm>
          <a:prstGeom prst="roundRect">
            <a:avLst>
              <a:gd name="adj" fmla="val 9277"/>
            </a:avLst>
          </a:prstGeom>
          <a:solidFill>
            <a:srgbClr val="EEF2F0"/>
          </a:solidFill>
          <a:ln w="12700">
            <a:solidFill>
              <a:srgbClr val="D6DED9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49808" y="3236976"/>
            <a:ext cx="3511296" cy="2439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🏨 Pura Vida Boutique Hotel Tbilisi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749808" y="3480943"/>
            <a:ext cx="3511296" cy="343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33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Digomi／Vashlijvari，第比利斯西北（近 Tbilisi Mall）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33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Booking.com · HK$398 · 免費取消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548640" y="4080383"/>
            <a:ext cx="3913632" cy="841248"/>
          </a:xfrm>
          <a:prstGeom prst="roundRect">
            <a:avLst>
              <a:gd name="adj" fmla="val 8696"/>
            </a:avLst>
          </a:prstGeom>
          <a:solidFill>
            <a:srgbClr val="F6F9F7"/>
          </a:solidFill>
          <a:ln w="12700">
            <a:solidFill>
              <a:srgbClr val="D6DED9"/>
            </a:solidFill>
            <a:prstDash val="solid"/>
          </a:ln>
        </p:spPr>
      </p:sp>
      <p:pic>
        <p:nvPicPr>
          <p:cNvPr id="14" name="Image 1" descr="/home/user/geogria/tools/pdfbuild/img/qr/DAY04_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4171823"/>
            <a:ext cx="658368" cy="65836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426464" y="4171823"/>
            <a:ext cx="2871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🗺 掃我開 Google Maps 路線</a:t>
            </a:r>
            <a:endParaRPr lang="en-US" sz="950" dirty="0"/>
          </a:p>
        </p:txBody>
      </p:sp>
      <p:sp>
        <p:nvSpPr>
          <p:cNvPr id="16" name="Text 11"/>
          <p:cNvSpPr txBox="1"/>
          <p:nvPr/>
        </p:nvSpPr>
        <p:spPr>
          <a:xfrm>
            <a:off x="1426464" y="4409567"/>
            <a:ext cx="2871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A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✈️ 機場接駁／的士 · 83 km · 約 1:55 車程（另 ✈️ 3h40）</a:t>
            </a:r>
            <a:endParaRPr lang="en-US" sz="800" dirty="0"/>
          </a:p>
        </p:txBody>
      </p:sp>
      <p:sp>
        <p:nvSpPr>
          <p:cNvPr id="17" name="Shape 12"/>
          <p:cNvSpPr/>
          <p:nvPr/>
        </p:nvSpPr>
        <p:spPr>
          <a:xfrm>
            <a:off x="548640" y="5049647"/>
            <a:ext cx="3913632" cy="1247648"/>
          </a:xfrm>
          <a:prstGeom prst="roundRect">
            <a:avLst>
              <a:gd name="adj" fmla="val 5863"/>
            </a:avLst>
          </a:prstGeom>
          <a:solidFill>
            <a:srgbClr val="FDF4EC"/>
          </a:solidFill>
          <a:ln w="12700">
            <a:solidFill>
              <a:srgbClr val="E8CDA9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731520" y="5131943"/>
            <a:ext cx="3547872" cy="1083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4D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⚠️ ⚠️ Pura Vida 喺西北郊 Digomi，唔係市中心 — 20:10 落機 → 約 21:15 先到，當晚冇舊城晚餐可言，喺機場或 Tbilisi Mall 解決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A4D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⚠️ ⚠️ 前台官方 19:00 收工 — 出發前書面確認夜到 check-in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A4D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🗺 兩條連結：① 多哈段（酒店→Msheireb→機場）② 第比利斯段（機場→Pura Vida 約 30 km／40 分）。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078992" cy="329184"/>
          </a:xfrm>
          <a:prstGeom prst="roundRect">
            <a:avLst>
              <a:gd name="adj" fmla="val 16667"/>
            </a:avLst>
          </a:prstGeom>
          <a:solidFill>
            <a:srgbClr val="D59A3C"/>
          </a:solidFill>
          <a:ln w="12700">
            <a:solidFill>
              <a:srgbClr val="D59A3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1078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05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755648" y="30175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9月29日（二）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26280" y="33832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4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取車 → Mtskheta → 軍事公路 → Kazbegi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945575" y="33832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59A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🏍 ~170 km　·　Jvari 山口 2,379m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969264"/>
          <a:ext cx="6766560" cy="914400"/>
        </p:xfrm>
        <a:graphic>
          <a:graphicData uri="http://schemas.openxmlformats.org/drawingml/2006/table">
            <a:tbl>
              <a:tblPr/>
              <a:tblGrid>
                <a:gridCol w="713232"/>
                <a:gridCol w="4498848"/>
                <a:gridCol w="1554480"/>
              </a:tblGrid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D3B3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時間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D3B3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行程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D3B3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行車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08:45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✅ 唔使轉場 — 電單車就喺酒店樓下（SLAVATOUR 基地）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09:00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取車：逐格拍片、簽約、€850×2 押金、裝軟袋、確認車牌／文件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09:45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北上（Mtskheta 順路）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🏍 18 km · 0:25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10:15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Jvari 修道院（山頂，免費，20分）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🏍 ~10 km · 0:15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10:50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Svetitskhoveli 大教堂（免費，30分，長褲／女頭巾）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11:45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軍事公路北上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🏍 40 km · 0:45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12:15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Ananuri 城堡（免費，45分，塔樓睇碧綠水庫）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🏍 24 km · 0:30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13:15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Pasanauri 午餐（Korbuda，khinkali 發源地）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🏍 34 km · 0:40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14:30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Gudauri 入油 + 俄格友誼紀念碑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🏍 ~5 km · 0:10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15:15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過 Jvari 山口 2,379m（雪崩廊道：開大燈、除太陽眼鏡）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🏍 30 km · 0:45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16:00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到 Stepantsminda，check-in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16:45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騎上 Gergeti 聖三一教堂（6km 鋪裝髮夾彎，黃昏金光）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🏍 12 km · 0:35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19:15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的士去 Gergeti 村（2km · 5 分鐘）— check-in 時即刻叫酒店幫手約本地司機，來回同一個人一次過講定 20–40 GEL（鎮內開價 10–12 GEL/程；Bolt 喺 Kazbegi 車極少…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🚕 2 km · 5 分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19:30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✅ Maisi 晚餐（已訂 19:30–21:00 · 2 位）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21:00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司機 21:00 返嚟接（後備：叫 Maisi 職員幫手打電話搵車，☎+995 593 06 02 20）· ⚠️回程全黑、冇街燈資料、有 4x4 同狗，唔好行路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🚕 2 km · 5 分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8" name="Image 0" descr="/home/user/geogria/tools/pdfbuild/img/ge_ananuri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26680" y="969264"/>
            <a:ext cx="3913632" cy="1938528"/>
          </a:xfrm>
          <a:prstGeom prst="rect">
            <a:avLst/>
          </a:prstGeom>
          <a:effectLst>
            <a:outerShdw sx="100000" sy="100000" kx="0" ky="0" algn="bl" rotWithShape="0" blurRad="127000" dist="25400" dir="5400000">
              <a:srgbClr val="000000">
                <a:alpha val="22000"/>
              </a:srgbClr>
            </a:outerShdw>
          </a:effectLst>
        </p:spPr>
      </p:pic>
      <p:sp>
        <p:nvSpPr>
          <p:cNvPr id="9" name="Text 5"/>
          <p:cNvSpPr txBox="1"/>
          <p:nvPr/>
        </p:nvSpPr>
        <p:spPr>
          <a:xfrm>
            <a:off x="7726680" y="2935224"/>
            <a:ext cx="3913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A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Ananuri 城堡 · 軍事公路</a:t>
            </a:r>
            <a:endParaRPr lang="en-US" sz="800" dirty="0"/>
          </a:p>
        </p:txBody>
      </p:sp>
      <p:sp>
        <p:nvSpPr>
          <p:cNvPr id="10" name="Shape 6"/>
          <p:cNvSpPr/>
          <p:nvPr/>
        </p:nvSpPr>
        <p:spPr>
          <a:xfrm>
            <a:off x="7726680" y="3163824"/>
            <a:ext cx="3913632" cy="932815"/>
          </a:xfrm>
          <a:prstGeom prst="roundRect">
            <a:avLst>
              <a:gd name="adj" fmla="val 7842"/>
            </a:avLst>
          </a:prstGeom>
          <a:solidFill>
            <a:srgbClr val="EEF2F0"/>
          </a:solidFill>
          <a:ln w="12700">
            <a:solidFill>
              <a:srgbClr val="D6DED9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927848" y="3236976"/>
            <a:ext cx="3511296" cy="2439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🏨 Landscapes Hotel Kazbegi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7927848" y="3480943"/>
            <a:ext cx="351129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33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Marjanishvili Street, Stepantsminda 4700 · ☎ +995 32 247 01 49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33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（訂單編號待補） · （金額待補） · 29/9–1/10 · 2晚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7726680" y="4224655"/>
            <a:ext cx="3913632" cy="841248"/>
          </a:xfrm>
          <a:prstGeom prst="roundRect">
            <a:avLst>
              <a:gd name="adj" fmla="val 8696"/>
            </a:avLst>
          </a:prstGeom>
          <a:solidFill>
            <a:srgbClr val="F6F9F7"/>
          </a:solidFill>
          <a:ln w="12700">
            <a:solidFill>
              <a:srgbClr val="D6DED9"/>
            </a:solidFill>
            <a:prstDash val="solid"/>
          </a:ln>
        </p:spPr>
      </p:sp>
      <p:pic>
        <p:nvPicPr>
          <p:cNvPr id="14" name="Image 1" descr="/home/user/geogria/tools/pdfbuild/img/qr/DAY0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6408" y="4316095"/>
            <a:ext cx="658368" cy="65836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604504" y="4316095"/>
            <a:ext cx="2871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🗺 掃我開 Google Maps 路線</a:t>
            </a:r>
            <a:endParaRPr lang="en-US" sz="950" dirty="0"/>
          </a:p>
        </p:txBody>
      </p:sp>
      <p:sp>
        <p:nvSpPr>
          <p:cNvPr id="16" name="Text 11"/>
          <p:cNvSpPr txBox="1"/>
          <p:nvPr/>
        </p:nvSpPr>
        <p:spPr>
          <a:xfrm>
            <a:off x="8604504" y="4553839"/>
            <a:ext cx="2871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A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🏍 電單車 · 173 km · 約 4:05 純騎行</a:t>
            </a:r>
            <a:endParaRPr lang="en-US" sz="800" dirty="0"/>
          </a:p>
        </p:txBody>
      </p:sp>
      <p:sp>
        <p:nvSpPr>
          <p:cNvPr id="17" name="Shape 12"/>
          <p:cNvSpPr/>
          <p:nvPr/>
        </p:nvSpPr>
        <p:spPr>
          <a:xfrm>
            <a:off x="7726680" y="5193919"/>
            <a:ext cx="3913632" cy="1103376"/>
          </a:xfrm>
          <a:prstGeom prst="roundRect">
            <a:avLst>
              <a:gd name="adj" fmla="val 6630"/>
            </a:avLst>
          </a:prstGeom>
          <a:solidFill>
            <a:srgbClr val="FDF4EC"/>
          </a:solidFill>
          <a:ln w="12700">
            <a:solidFill>
              <a:srgbClr val="E8CDA9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7909560" y="5276215"/>
            <a:ext cx="3547872" cy="938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4D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⚠️ 車行 09:00 先開（appointment only）— 今晚 WhatsApp 問可唔可以 08:00 特早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A4D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⚠️ 雪崩廊道無燈濕滑，同貨車共用 → 開大燈、除太陽眼鏡、保持距離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A4D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🗺 Ananuri→Gudauri 實際約 58 km（經 Pasanauri），行車段已修正；全日約 173 km。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078992" cy="329184"/>
          </a:xfrm>
          <a:prstGeom prst="roundRect">
            <a:avLst>
              <a:gd name="adj" fmla="val 16667"/>
            </a:avLst>
          </a:prstGeom>
          <a:solidFill>
            <a:srgbClr val="D59A3C"/>
          </a:solidFill>
          <a:ln w="12700">
            <a:solidFill>
              <a:srgbClr val="D59A3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1078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06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755648" y="30175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9月30日（三）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26280" y="33832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4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Kazbegi 周邊探索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945575" y="33832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59A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🏍 ~100 km　·　帶護照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92040" y="969264"/>
          <a:ext cx="6766560" cy="914400"/>
        </p:xfrm>
        <a:graphic>
          <a:graphicData uri="http://schemas.openxmlformats.org/drawingml/2006/table">
            <a:tbl>
              <a:tblPr/>
              <a:tblGrid>
                <a:gridCol w="713232"/>
                <a:gridCol w="4498848"/>
                <a:gridCol w="155448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D3B3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時間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D3B3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行程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D3B3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行車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07:30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Gergeti 教堂黎明版（Kazbek 朝早最清，而且冇人）— 尋日冇上就今朝補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🏍 12 km · 0:35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09:00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早餐（連住兩晚，行李唔使收）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10:00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Truso 山谷（碎石路 · 鈣華梯田 · 廢村 · Zakagori 要塞）— 帶實體護照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🏍 ~70 km 來回 · 2:30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14:00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返鎮午餐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15:00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Dariali 峽谷 + Gveleti 瀑布 + 修道院（向俄邊境 12km）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🏍 24 km 來回 · 0:40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17:00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返酒店休息 · 露台睇 Kazbek 黃昏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19:00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行路去晚餐 Tiba（6 分）／Stancia（12 分）／Rooms The Kitchen（7 分，18:30 早到 walk-in）· Maisi 今日休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🚶 6–12 分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8" name="Image 0" descr="/home/user/geogria/tools/pdfbuild/img/ge_kazbek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969264"/>
            <a:ext cx="3913632" cy="1938528"/>
          </a:xfrm>
          <a:prstGeom prst="rect">
            <a:avLst/>
          </a:prstGeom>
          <a:effectLst>
            <a:outerShdw sx="100000" sy="100000" kx="0" ky="0" algn="bl" rotWithShape="0" blurRad="127000" dist="25400" dir="5400000">
              <a:srgbClr val="000000">
                <a:alpha val="22000"/>
              </a:srgbClr>
            </a:outerShdw>
          </a:effectLst>
        </p:spPr>
      </p:pic>
      <p:sp>
        <p:nvSpPr>
          <p:cNvPr id="9" name="Text 5"/>
          <p:cNvSpPr txBox="1"/>
          <p:nvPr/>
        </p:nvSpPr>
        <p:spPr>
          <a:xfrm>
            <a:off x="548640" y="2935224"/>
            <a:ext cx="3913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A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Kazbek 山（5,054m）</a:t>
            </a:r>
            <a:endParaRPr lang="en-US" sz="800" dirty="0"/>
          </a:p>
        </p:txBody>
      </p:sp>
      <p:sp>
        <p:nvSpPr>
          <p:cNvPr id="10" name="Shape 6"/>
          <p:cNvSpPr/>
          <p:nvPr/>
        </p:nvSpPr>
        <p:spPr>
          <a:xfrm>
            <a:off x="548640" y="3163824"/>
            <a:ext cx="3913632" cy="788543"/>
          </a:xfrm>
          <a:prstGeom prst="roundRect">
            <a:avLst>
              <a:gd name="adj" fmla="val 9277"/>
            </a:avLst>
          </a:prstGeom>
          <a:solidFill>
            <a:srgbClr val="EEF2F0"/>
          </a:solidFill>
          <a:ln w="12700">
            <a:solidFill>
              <a:srgbClr val="D6DED9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49808" y="3236976"/>
            <a:ext cx="3511296" cy="2439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🏨 Landscapes Hotel Kazbegi（第二晚）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749808" y="3480943"/>
            <a:ext cx="3511296" cy="343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33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Marjanishvili Street, Stepantsminda（鎮內）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33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（同 29/9）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548640" y="4080383"/>
            <a:ext cx="3913632" cy="841248"/>
          </a:xfrm>
          <a:prstGeom prst="roundRect">
            <a:avLst>
              <a:gd name="adj" fmla="val 8696"/>
            </a:avLst>
          </a:prstGeom>
          <a:solidFill>
            <a:srgbClr val="F6F9F7"/>
          </a:solidFill>
          <a:ln w="12700">
            <a:solidFill>
              <a:srgbClr val="D6DED9"/>
            </a:solidFill>
            <a:prstDash val="solid"/>
          </a:ln>
        </p:spPr>
      </p:sp>
      <p:pic>
        <p:nvPicPr>
          <p:cNvPr id="14" name="Image 1" descr="/home/user/geogria/tools/pdfbuild/img/qr/DAY0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4171823"/>
            <a:ext cx="658368" cy="65836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426464" y="4171823"/>
            <a:ext cx="2871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🗺 掃我開 Google Maps 路線</a:t>
            </a:r>
            <a:endParaRPr lang="en-US" sz="950" dirty="0"/>
          </a:p>
        </p:txBody>
      </p:sp>
      <p:sp>
        <p:nvSpPr>
          <p:cNvPr id="16" name="Text 11"/>
          <p:cNvSpPr txBox="1"/>
          <p:nvPr/>
        </p:nvSpPr>
        <p:spPr>
          <a:xfrm>
            <a:off x="1426464" y="4409567"/>
            <a:ext cx="2871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A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🏍 電單車 · 106 km · 約 3:45 純騎行</a:t>
            </a:r>
            <a:endParaRPr lang="en-US" sz="800" dirty="0"/>
          </a:p>
        </p:txBody>
      </p:sp>
      <p:sp>
        <p:nvSpPr>
          <p:cNvPr id="17" name="Shape 12"/>
          <p:cNvSpPr/>
          <p:nvPr/>
        </p:nvSpPr>
        <p:spPr>
          <a:xfrm>
            <a:off x="548640" y="5049647"/>
            <a:ext cx="3913632" cy="959104"/>
          </a:xfrm>
          <a:prstGeom prst="roundRect">
            <a:avLst>
              <a:gd name="adj" fmla="val 7627"/>
            </a:avLst>
          </a:prstGeom>
          <a:solidFill>
            <a:srgbClr val="FDF4EC"/>
          </a:solidFill>
          <a:ln w="12700">
            <a:solidFill>
              <a:srgbClr val="E8CDA9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731520" y="5131943"/>
            <a:ext cx="3547872" cy="794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4D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⚠️ Maisi 逢星期三休 → 今晚改 Tiba／Stancia／Rooms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A4D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⚠️ Truso 同 Dariali 都近邊境 → 一定要帶實體護照（唔係影相）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A4D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🗺 Truso 碎石段 Google 未必畫到尾：去到 Kobi 轉入口後跟唯一嗰條路入谷；帶實體護照。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078992" cy="329184"/>
          </a:xfrm>
          <a:prstGeom prst="roundRect">
            <a:avLst>
              <a:gd name="adj" fmla="val 16667"/>
            </a:avLst>
          </a:prstGeom>
          <a:solidFill>
            <a:srgbClr val="D59A3C"/>
          </a:solidFill>
          <a:ln w="12700">
            <a:solidFill>
              <a:srgbClr val="D59A3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1078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07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755648" y="30175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10月1日（四）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26280" y="33832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4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Kazbegi → Gombori 山口 → 卡赫季酒莊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945575" y="33832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59A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🏍 ~250 km　·　Gombori 1,620m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969264"/>
          <a:ext cx="6766560" cy="914400"/>
        </p:xfrm>
        <a:graphic>
          <a:graphicData uri="http://schemas.openxmlformats.org/drawingml/2006/table">
            <a:tbl>
              <a:tblPr/>
              <a:tblGrid>
                <a:gridCol w="713232"/>
                <a:gridCol w="4498848"/>
                <a:gridCol w="155448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D3B3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時間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D3B3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行程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D3B3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行車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08:00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早餐（Maisi 早餐週四開，同一廚房三分一價錢）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09:00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落軍事公路（落山視角完全唔同）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🏍 155 km · 2:45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11:30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繞第比利斯外環（唔入城）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🏍 ~60 km · 1:15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12:30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Gombori 山口（森林連續髮夾彎，全程最正騎行之一）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🏍 ~40 km · 0:45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14:00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到 Schuchmann 酒莊 check-in（14:00 開始）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15:00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酒窖 tour + qvevri 品酒（埋地陶罐）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16:30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泳池／露台休息，換衫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18:00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✅ 酒浴 Wine SPA（已訂 18:00–19:00）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19:30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Wine tasting &amp; Dinner Experience（已包喺房價 · ⚠️同酒莊講 SPA 後 19:30 先開餐）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8" name="Image 0" descr="/home/user/geogria/tools/pdfbuild/img/ge_kakheti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26680" y="969264"/>
            <a:ext cx="3913632" cy="1938528"/>
          </a:xfrm>
          <a:prstGeom prst="rect">
            <a:avLst/>
          </a:prstGeom>
          <a:effectLst>
            <a:outerShdw sx="100000" sy="100000" kx="0" ky="0" algn="bl" rotWithShape="0" blurRad="127000" dist="25400" dir="5400000">
              <a:srgbClr val="000000">
                <a:alpha val="22000"/>
              </a:srgbClr>
            </a:outerShdw>
          </a:effectLst>
        </p:spPr>
      </p:pic>
      <p:sp>
        <p:nvSpPr>
          <p:cNvPr id="9" name="Text 5"/>
          <p:cNvSpPr txBox="1"/>
          <p:nvPr/>
        </p:nvSpPr>
        <p:spPr>
          <a:xfrm>
            <a:off x="7726680" y="2935224"/>
            <a:ext cx="3913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A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卡赫季 Kakheti 葡萄園</a:t>
            </a:r>
            <a:endParaRPr lang="en-US" sz="800" dirty="0"/>
          </a:p>
        </p:txBody>
      </p:sp>
      <p:sp>
        <p:nvSpPr>
          <p:cNvPr id="10" name="Shape 6"/>
          <p:cNvSpPr/>
          <p:nvPr/>
        </p:nvSpPr>
        <p:spPr>
          <a:xfrm>
            <a:off x="7726680" y="3163824"/>
            <a:ext cx="3913632" cy="1140206"/>
          </a:xfrm>
          <a:prstGeom prst="roundRect">
            <a:avLst>
              <a:gd name="adj" fmla="val 6416"/>
            </a:avLst>
          </a:prstGeom>
          <a:solidFill>
            <a:srgbClr val="EEF2F0"/>
          </a:solidFill>
          <a:ln w="12700">
            <a:solidFill>
              <a:srgbClr val="D6DED9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927848" y="3236976"/>
            <a:ext cx="3511296" cy="451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🏨 Schuchmann Wines Chateau, Villas &amp; SPA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7927848" y="3688334"/>
            <a:ext cx="351129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33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Kisiskhevi, 2200 Telavi, Georgia · +995 577 50 80 05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33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RP8S · GEL 525（≈HK$1,520） · Check-in 14:00 · Check-out 12:00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7726680" y="4432046"/>
            <a:ext cx="3913632" cy="841248"/>
          </a:xfrm>
          <a:prstGeom prst="roundRect">
            <a:avLst>
              <a:gd name="adj" fmla="val 8696"/>
            </a:avLst>
          </a:prstGeom>
          <a:solidFill>
            <a:srgbClr val="F6F9F7"/>
          </a:solidFill>
          <a:ln w="12700">
            <a:solidFill>
              <a:srgbClr val="D6DED9"/>
            </a:solidFill>
            <a:prstDash val="solid"/>
          </a:ln>
        </p:spPr>
      </p:sp>
      <p:pic>
        <p:nvPicPr>
          <p:cNvPr id="14" name="Image 1" descr="/home/user/geogria/tools/pdfbuild/img/qr/DAY0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6408" y="4523486"/>
            <a:ext cx="658368" cy="65836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604504" y="4523486"/>
            <a:ext cx="2871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🗺 掃我開 Google Maps 路線</a:t>
            </a:r>
            <a:endParaRPr lang="en-US" sz="950" dirty="0"/>
          </a:p>
        </p:txBody>
      </p:sp>
      <p:sp>
        <p:nvSpPr>
          <p:cNvPr id="16" name="Text 11"/>
          <p:cNvSpPr txBox="1"/>
          <p:nvPr/>
        </p:nvSpPr>
        <p:spPr>
          <a:xfrm>
            <a:off x="8604504" y="4761230"/>
            <a:ext cx="2871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A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🏍 電單車 · 270 km · 約 4:50 純騎行</a:t>
            </a:r>
            <a:endParaRPr lang="en-US" sz="800" dirty="0"/>
          </a:p>
        </p:txBody>
      </p:sp>
      <p:sp>
        <p:nvSpPr>
          <p:cNvPr id="17" name="Shape 12"/>
          <p:cNvSpPr/>
          <p:nvPr/>
        </p:nvSpPr>
        <p:spPr>
          <a:xfrm>
            <a:off x="7726680" y="5401310"/>
            <a:ext cx="3913632" cy="814832"/>
          </a:xfrm>
          <a:prstGeom prst="roundRect">
            <a:avLst>
              <a:gd name="adj" fmla="val 8978"/>
            </a:avLst>
          </a:prstGeom>
          <a:solidFill>
            <a:srgbClr val="FDF4EC"/>
          </a:solidFill>
          <a:ln w="12700">
            <a:solidFill>
              <a:srgbClr val="E8CDA9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7909560" y="5483606"/>
            <a:ext cx="3547872" cy="65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4D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⚠️ 今晚車泊定，可以放心飲（酒莊住宿最大好處）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A4D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⚠️ 格魯吉亞酒駕 0.03%（≈一杯已中），罰 700 GEL 起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A4D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🗺 連結已加外環同 Vaziani 過路點，確保行外環唔穿市區；全日約 270 km。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078992" cy="329184"/>
          </a:xfrm>
          <a:prstGeom prst="roundRect">
            <a:avLst>
              <a:gd name="adj" fmla="val 16667"/>
            </a:avLst>
          </a:prstGeom>
          <a:solidFill>
            <a:srgbClr val="D59A3C"/>
          </a:solidFill>
          <a:ln w="12700">
            <a:solidFill>
              <a:srgbClr val="D59A3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1078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08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755648" y="30175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10月2日（五）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26280" y="33832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4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卡赫季 → Gori/Uplistsikhe → Kutaisi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945575" y="33832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59A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🏍 ~380 km　·　⚠️最長一日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92040" y="969264"/>
          <a:ext cx="6766560" cy="914400"/>
        </p:xfrm>
        <a:graphic>
          <a:graphicData uri="http://schemas.openxmlformats.org/drawingml/2006/table">
            <a:tbl>
              <a:tblPr/>
              <a:tblGrid>
                <a:gridCol w="713232"/>
                <a:gridCol w="4498848"/>
                <a:gridCol w="155448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D3B3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時間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D3B3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行程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D3B3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行車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07:45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酒莊早餐（已包）· 今日 ~365km，食飽佢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08:30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出發 → 第比利斯外環 → E60 西行（⚠️Kisiskhevi→Gori 實際 ~190 km，3 小時以上）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🏍 190 km · 3:15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11:45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Gori 史太林博物館（1小時）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12:45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Gori 午餐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🏍 12 km · 0:20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13:30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Uplistsikhe 石窟城（1.5 小時，著防滑鞋）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15:15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E60 西行（⚠️ 區間測速，唔好偷雞）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🏍 160 km · 2:30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17:30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到 Kutaisi，check-in AUTOGRAPH（14:00 後可入住）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18:00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Bagrati 大教堂睇日落（免費）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🏍 ~2 km · 0:05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19:30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✅ Palaty 晚餐（已訂 19:30） — 歌劇院對面 · AUTOGRAPH 行 23 分或 Bolt 3–4 GEL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8" name="Image 0" descr="/home/user/geogria/tools/pdfbuild/img/ge_uplistsikh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969264"/>
            <a:ext cx="3913632" cy="1938528"/>
          </a:xfrm>
          <a:prstGeom prst="rect">
            <a:avLst/>
          </a:prstGeom>
          <a:effectLst>
            <a:outerShdw sx="100000" sy="100000" kx="0" ky="0" algn="bl" rotWithShape="0" blurRad="127000" dist="25400" dir="5400000">
              <a:srgbClr val="000000">
                <a:alpha val="22000"/>
              </a:srgbClr>
            </a:outerShdw>
          </a:effectLst>
        </p:spPr>
      </p:pic>
      <p:sp>
        <p:nvSpPr>
          <p:cNvPr id="9" name="Text 5"/>
          <p:cNvSpPr txBox="1"/>
          <p:nvPr/>
        </p:nvSpPr>
        <p:spPr>
          <a:xfrm>
            <a:off x="548640" y="2935224"/>
            <a:ext cx="3913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A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Uplistsikhe 岩洞古城</a:t>
            </a:r>
            <a:endParaRPr lang="en-US" sz="800" dirty="0"/>
          </a:p>
        </p:txBody>
      </p:sp>
      <p:sp>
        <p:nvSpPr>
          <p:cNvPr id="10" name="Shape 6"/>
          <p:cNvSpPr/>
          <p:nvPr/>
        </p:nvSpPr>
        <p:spPr>
          <a:xfrm>
            <a:off x="548640" y="3163824"/>
            <a:ext cx="3913632" cy="932815"/>
          </a:xfrm>
          <a:prstGeom prst="roundRect">
            <a:avLst>
              <a:gd name="adj" fmla="val 7842"/>
            </a:avLst>
          </a:prstGeom>
          <a:solidFill>
            <a:srgbClr val="EEF2F0"/>
          </a:solidFill>
          <a:ln w="12700">
            <a:solidFill>
              <a:srgbClr val="D6DED9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49808" y="3236976"/>
            <a:ext cx="3511296" cy="2439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🏨 AUTOGRAPH Kutaisi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749808" y="3480943"/>
            <a:ext cx="351129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33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110a Gelati Street, 4600 Kutaisi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33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Booking.com · Check-in 14:00–24:00 · Check-out 11:00–12:00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548640" y="4224655"/>
            <a:ext cx="3913632" cy="841248"/>
          </a:xfrm>
          <a:prstGeom prst="roundRect">
            <a:avLst>
              <a:gd name="adj" fmla="val 8696"/>
            </a:avLst>
          </a:prstGeom>
          <a:solidFill>
            <a:srgbClr val="F6F9F7"/>
          </a:solidFill>
          <a:ln w="12700">
            <a:solidFill>
              <a:srgbClr val="D6DED9"/>
            </a:solidFill>
            <a:prstDash val="solid"/>
          </a:ln>
        </p:spPr>
      </p:sp>
      <p:pic>
        <p:nvPicPr>
          <p:cNvPr id="14" name="Image 1" descr="/home/user/geogria/tools/pdfbuild/img/qr/DAY0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4316095"/>
            <a:ext cx="658368" cy="65836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426464" y="4316095"/>
            <a:ext cx="2871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🗺 掃我開 Google Maps 路線</a:t>
            </a:r>
            <a:endParaRPr lang="en-US" sz="950" dirty="0"/>
          </a:p>
        </p:txBody>
      </p:sp>
      <p:sp>
        <p:nvSpPr>
          <p:cNvPr id="16" name="Text 11"/>
          <p:cNvSpPr txBox="1"/>
          <p:nvPr/>
        </p:nvSpPr>
        <p:spPr>
          <a:xfrm>
            <a:off x="1426464" y="4553839"/>
            <a:ext cx="2871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A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🏍 電單車 · 364 km · 約 6:10 純騎行</a:t>
            </a:r>
            <a:endParaRPr lang="en-US" sz="800" dirty="0"/>
          </a:p>
        </p:txBody>
      </p:sp>
      <p:sp>
        <p:nvSpPr>
          <p:cNvPr id="17" name="Shape 12"/>
          <p:cNvSpPr/>
          <p:nvPr/>
        </p:nvSpPr>
        <p:spPr>
          <a:xfrm>
            <a:off x="548640" y="5193919"/>
            <a:ext cx="3913632" cy="814832"/>
          </a:xfrm>
          <a:prstGeom prst="roundRect">
            <a:avLst>
              <a:gd name="adj" fmla="val 8978"/>
            </a:avLst>
          </a:prstGeom>
          <a:solidFill>
            <a:srgbClr val="FDF4EC"/>
          </a:solidFill>
          <a:ln w="12700">
            <a:solidFill>
              <a:srgbClr val="E8CDA9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731520" y="5276215"/>
            <a:ext cx="3547872" cy="65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4D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⚠️ 今日 380km，全程最長 — 08:45 準時走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A4D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⚠️ E60 有區間測速，唔會現場罰但天眼會影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A4D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🗺 Kisiskhevi→Gori 實際約 190 km／3:15（舊估偏低）— 出發已提早到 08:30，Palaty 19:30 唔受影響。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078992" cy="329184"/>
          </a:xfrm>
          <a:prstGeom prst="roundRect">
            <a:avLst>
              <a:gd name="adj" fmla="val 16667"/>
            </a:avLst>
          </a:prstGeom>
          <a:solidFill>
            <a:srgbClr val="D59A3C"/>
          </a:solidFill>
          <a:ln w="12700">
            <a:solidFill>
              <a:srgbClr val="D59A3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1078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09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755648" y="30175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10月3日（六）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26280" y="33832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4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Kutaisi → Gelati → Zugdidi → Mestia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945575" y="33832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59A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🏍 ~250 km　·　⭐Gelati 唯一機會</a:t>
            </a:r>
            <a:endParaRPr lang="en-US" sz="11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969264"/>
          <a:ext cx="6766560" cy="914400"/>
        </p:xfrm>
        <a:graphic>
          <a:graphicData uri="http://schemas.openxmlformats.org/drawingml/2006/table">
            <a:tbl>
              <a:tblPr/>
              <a:tblGrid>
                <a:gridCol w="713232"/>
                <a:gridCol w="4498848"/>
                <a:gridCol w="155448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D3B3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時間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D3B3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行程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D3B3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行車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08:00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早餐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09:00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Gelati 修道院（⭐今日星期六＝內部開放嘅唯一機會，1小時）— 酒店就喺 Gelati Street，順路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🏍 11 km · 0:20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10:15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順路 Motsameta 懸崖修道院（15分）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🏍 6 km · 0:15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11:00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出發西行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🏍 105 km · 1:40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12:30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Zugdidi 午餐 + 入滿油（Svaneti 前最後大鎮）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13:45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Zugdidi → Mestia（恩古里峽谷）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🏍 40 km · 0:45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14:30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恩古里水壩觀景（271.5m 拱壩，15分）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🏍 90 km · 2:15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16:30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到 Mestia，check-in（12:00 起可入住）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17:00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Margiani 塔樓故居（行 3 分鐘，主人家族嘅博物館）· 斯凡塔樓群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🚶 3 分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19:30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晚餐 Cafe Laila（民歌樂隊 · ⚠️只收現金）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🚶 ~8 分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8" name="Image 0" descr="/home/user/geogria/tools/pdfbuild/img/ge_mesti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26680" y="969264"/>
            <a:ext cx="3913632" cy="1938528"/>
          </a:xfrm>
          <a:prstGeom prst="rect">
            <a:avLst/>
          </a:prstGeom>
          <a:effectLst>
            <a:outerShdw sx="100000" sy="100000" kx="0" ky="0" algn="bl" rotWithShape="0" blurRad="127000" dist="25400" dir="5400000">
              <a:srgbClr val="000000">
                <a:alpha val="22000"/>
              </a:srgbClr>
            </a:outerShdw>
          </a:effectLst>
        </p:spPr>
      </p:pic>
      <p:sp>
        <p:nvSpPr>
          <p:cNvPr id="9" name="Text 5"/>
          <p:cNvSpPr txBox="1"/>
          <p:nvPr/>
        </p:nvSpPr>
        <p:spPr>
          <a:xfrm>
            <a:off x="7726680" y="2935224"/>
            <a:ext cx="3913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A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Mestia 斯凡塔樓</a:t>
            </a:r>
            <a:endParaRPr lang="en-US" sz="800" dirty="0"/>
          </a:p>
        </p:txBody>
      </p:sp>
      <p:sp>
        <p:nvSpPr>
          <p:cNvPr id="10" name="Shape 6"/>
          <p:cNvSpPr/>
          <p:nvPr/>
        </p:nvSpPr>
        <p:spPr>
          <a:xfrm>
            <a:off x="7726680" y="3163824"/>
            <a:ext cx="3913632" cy="932815"/>
          </a:xfrm>
          <a:prstGeom prst="roundRect">
            <a:avLst>
              <a:gd name="adj" fmla="val 7842"/>
            </a:avLst>
          </a:prstGeom>
          <a:solidFill>
            <a:srgbClr val="EEF2F0"/>
          </a:solidFill>
          <a:ln w="12700">
            <a:solidFill>
              <a:srgbClr val="D6DED9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927848" y="3236976"/>
            <a:ext cx="3511296" cy="2439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🏨 Guest House Keti Margiani Mestia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7927848" y="3480943"/>
            <a:ext cx="351129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33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Lanchvali Street 7, Mestia · +995 598 759 767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33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Agoda 69553611 · 房費已付（早餐／晚餐另計） · Check-in 12:00–22:00 · Check-out 08:00–11:00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7726680" y="4224655"/>
            <a:ext cx="3913632" cy="841248"/>
          </a:xfrm>
          <a:prstGeom prst="roundRect">
            <a:avLst>
              <a:gd name="adj" fmla="val 8696"/>
            </a:avLst>
          </a:prstGeom>
          <a:solidFill>
            <a:srgbClr val="F6F9F7"/>
          </a:solidFill>
          <a:ln w="12700">
            <a:solidFill>
              <a:srgbClr val="D6DED9"/>
            </a:solidFill>
            <a:prstDash val="solid"/>
          </a:ln>
        </p:spPr>
      </p:sp>
      <p:pic>
        <p:nvPicPr>
          <p:cNvPr id="14" name="Image 1" descr="/home/user/geogria/tools/pdfbuild/img/qr/DAY0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6408" y="4316095"/>
            <a:ext cx="658368" cy="65836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604504" y="4316095"/>
            <a:ext cx="2871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🗺 掃我開 Google Maps 路線</a:t>
            </a:r>
            <a:endParaRPr lang="en-US" sz="950" dirty="0"/>
          </a:p>
        </p:txBody>
      </p:sp>
      <p:sp>
        <p:nvSpPr>
          <p:cNvPr id="16" name="Text 11"/>
          <p:cNvSpPr txBox="1"/>
          <p:nvPr/>
        </p:nvSpPr>
        <p:spPr>
          <a:xfrm>
            <a:off x="8604504" y="4553839"/>
            <a:ext cx="2871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A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🏍 電單車 · 252 km · 約 5:15 純騎行</a:t>
            </a:r>
            <a:endParaRPr lang="en-US" sz="800" dirty="0"/>
          </a:p>
        </p:txBody>
      </p:sp>
      <p:sp>
        <p:nvSpPr>
          <p:cNvPr id="17" name="Shape 12"/>
          <p:cNvSpPr/>
          <p:nvPr/>
        </p:nvSpPr>
        <p:spPr>
          <a:xfrm>
            <a:off x="7726680" y="5193919"/>
            <a:ext cx="3913632" cy="959104"/>
          </a:xfrm>
          <a:prstGeom prst="roundRect">
            <a:avLst>
              <a:gd name="adj" fmla="val 7627"/>
            </a:avLst>
          </a:prstGeom>
          <a:solidFill>
            <a:srgbClr val="FDF4EC"/>
          </a:solidFill>
          <a:ln w="12700">
            <a:solidFill>
              <a:srgbClr val="E8CDA9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7909560" y="5276215"/>
            <a:ext cx="3547872" cy="794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4D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⚠️ ⭐ Gelati 內部只喺週末開，今日係你唯一星期六 — 09:00 去，人最少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A4D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⚠️ Zugdidi 入滿油 — Svaneti 深山前最後大鎮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A4D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🗺 Motsameta 座標已修正；Mestia 約 17:00 到（日落 18:46 前）。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078992" cy="329184"/>
          </a:xfrm>
          <a:prstGeom prst="roundRect">
            <a:avLst>
              <a:gd name="adj" fmla="val 16667"/>
            </a:avLst>
          </a:prstGeom>
          <a:solidFill>
            <a:srgbClr val="D59A3C"/>
          </a:solidFill>
          <a:ln w="12700">
            <a:solidFill>
              <a:srgbClr val="D59A3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1078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10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755648" y="30175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10月4日（日）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26280" y="33832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4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Mestia → Ushguli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945575" y="33832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59A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🏍 ~47 km　·　全程最鬆一日</a:t>
            </a:r>
            <a:endParaRPr lang="en-US" sz="11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92040" y="969264"/>
          <a:ext cx="6766560" cy="914400"/>
        </p:xfrm>
        <a:graphic>
          <a:graphicData uri="http://schemas.openxmlformats.org/drawingml/2006/table">
            <a:tbl>
              <a:tblPr/>
              <a:tblGrid>
                <a:gridCol w="713232"/>
                <a:gridCol w="4498848"/>
                <a:gridCol w="155448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D3B3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時間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D3B3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行程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D3B3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行車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09:00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早餐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09:30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斯瓦涅季博物館（⚠️逢一休，今日日開 · 1小時 · 全國最好地區博物館之一）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🏍 1.1 km · 0:05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11:00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⛽ Mestia 入滿油（Ushguli/Zagari 冇油站）· 買定 kubdari 做午餐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🏍 0.4 km · 0:02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11:30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出發上 Ushguli（2024 新鋪路）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🏍 46 km · 1:30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13:00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到 Ushguli（2,100m，UNESCO），check-in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14:00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Shkhara 冰川谷 — 頭 7.3km 係車路，電單車可以騎入去（慳晒腳骨力）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🏍 7.3 km · 0:30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16:30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返村 · Lamaria 教堂 · 石塔黃昏金光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🏍 7.3 km · 0:30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19:00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晚餐 ⚠️民宿唔包餐 → 去 Murkvam／Cafe Svaneti，或 Mestia 買定嘢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🚶 村內步行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8" name="Image 0" descr="/home/user/geogria/tools/pdfbuild/img/ge_ushguli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969264"/>
            <a:ext cx="3913632" cy="1938528"/>
          </a:xfrm>
          <a:prstGeom prst="rect">
            <a:avLst/>
          </a:prstGeom>
          <a:effectLst>
            <a:outerShdw sx="100000" sy="100000" kx="0" ky="0" algn="bl" rotWithShape="0" blurRad="127000" dist="25400" dir="5400000">
              <a:srgbClr val="000000">
                <a:alpha val="22000"/>
              </a:srgbClr>
            </a:outerShdw>
          </a:effectLst>
        </p:spPr>
      </p:pic>
      <p:sp>
        <p:nvSpPr>
          <p:cNvPr id="9" name="Text 5"/>
          <p:cNvSpPr txBox="1"/>
          <p:nvPr/>
        </p:nvSpPr>
        <p:spPr>
          <a:xfrm>
            <a:off x="548640" y="2935224"/>
            <a:ext cx="3913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A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Ushguli · 歐洲最高常住村</a:t>
            </a:r>
            <a:endParaRPr lang="en-US" sz="800" dirty="0"/>
          </a:p>
        </p:txBody>
      </p:sp>
      <p:sp>
        <p:nvSpPr>
          <p:cNvPr id="10" name="Shape 6"/>
          <p:cNvSpPr/>
          <p:nvPr/>
        </p:nvSpPr>
        <p:spPr>
          <a:xfrm>
            <a:off x="548640" y="3163824"/>
            <a:ext cx="3913632" cy="932815"/>
          </a:xfrm>
          <a:prstGeom prst="roundRect">
            <a:avLst>
              <a:gd name="adj" fmla="val 7842"/>
            </a:avLst>
          </a:prstGeom>
          <a:solidFill>
            <a:srgbClr val="EEF2F0"/>
          </a:solidFill>
          <a:ln w="12700">
            <a:solidFill>
              <a:srgbClr val="D6DED9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49808" y="3236976"/>
            <a:ext cx="3511296" cy="2439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🏨 Mountain house（Ushguli）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749808" y="3480943"/>
            <a:ext cx="351129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33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Ushguli, Svaneti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33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Agoda 69553611 · 約 Check-in 11:00–24:00 · Check-out 08:00–10:00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548640" y="4224655"/>
            <a:ext cx="3913632" cy="841248"/>
          </a:xfrm>
          <a:prstGeom prst="roundRect">
            <a:avLst>
              <a:gd name="adj" fmla="val 8696"/>
            </a:avLst>
          </a:prstGeom>
          <a:solidFill>
            <a:srgbClr val="F6F9F7"/>
          </a:solidFill>
          <a:ln w="12700">
            <a:solidFill>
              <a:srgbClr val="D6DED9"/>
            </a:solidFill>
            <a:prstDash val="solid"/>
          </a:ln>
        </p:spPr>
      </p:sp>
      <p:pic>
        <p:nvPicPr>
          <p:cNvPr id="14" name="Image 1" descr="/home/user/geogria/tools/pdfbuild/img/qr/DAY1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4316095"/>
            <a:ext cx="658368" cy="65836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426464" y="4316095"/>
            <a:ext cx="2871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🗺 掃我開 Google Maps 路線</a:t>
            </a:r>
            <a:endParaRPr lang="en-US" sz="950" dirty="0"/>
          </a:p>
        </p:txBody>
      </p:sp>
      <p:sp>
        <p:nvSpPr>
          <p:cNvPr id="16" name="Text 11"/>
          <p:cNvSpPr txBox="1"/>
          <p:nvPr/>
        </p:nvSpPr>
        <p:spPr>
          <a:xfrm>
            <a:off x="1426464" y="4553839"/>
            <a:ext cx="2871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A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🏍 電單車 · 62.1 km · 約 2:37 純騎行</a:t>
            </a:r>
            <a:endParaRPr lang="en-US" sz="800" dirty="0"/>
          </a:p>
        </p:txBody>
      </p:sp>
      <p:sp>
        <p:nvSpPr>
          <p:cNvPr id="17" name="Shape 12"/>
          <p:cNvSpPr/>
          <p:nvPr/>
        </p:nvSpPr>
        <p:spPr>
          <a:xfrm>
            <a:off x="548640" y="5193919"/>
            <a:ext cx="3913632" cy="959104"/>
          </a:xfrm>
          <a:prstGeom prst="roundRect">
            <a:avLst>
              <a:gd name="adj" fmla="val 7627"/>
            </a:avLst>
          </a:prstGeom>
          <a:solidFill>
            <a:srgbClr val="FDF4EC"/>
          </a:solidFill>
          <a:ln w="12700">
            <a:solidFill>
              <a:srgbClr val="E8CDA9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731520" y="5276215"/>
            <a:ext cx="3547872" cy="794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4D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⚠️ 今日最鬆 — 用嚟玩深 Shkhara 冰川谷（電單車嘅最大優勢）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A4D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⚠️ ⚠️ Ushguli 全村冇 ATM — Mestia 一定要撳定現金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A4D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🗺 總計 62 km 已包 Shkhara 冰川路來回 14.6 km；Mountain house 座標待民宿確認。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078992" cy="329184"/>
          </a:xfrm>
          <a:prstGeom prst="roundRect">
            <a:avLst>
              <a:gd name="adj" fmla="val 16667"/>
            </a:avLst>
          </a:prstGeom>
          <a:solidFill>
            <a:srgbClr val="D59A3C"/>
          </a:solidFill>
          <a:ln w="12700">
            <a:solidFill>
              <a:srgbClr val="D59A3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1078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11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755648" y="30175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10月5日（一）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26280" y="33832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4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Ushguli → Zagari 山口 → Lentekhi → Kutaisi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945575" y="33832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59A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🏍 ~160 km　·　Zagari 2,623m</a:t>
            </a:r>
            <a:endParaRPr lang="en-US" sz="11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969264"/>
          <a:ext cx="6766560" cy="914400"/>
        </p:xfrm>
        <a:graphic>
          <a:graphicData uri="http://schemas.openxmlformats.org/drawingml/2006/table">
            <a:tbl>
              <a:tblPr/>
              <a:tblGrid>
                <a:gridCol w="713232"/>
                <a:gridCol w="4498848"/>
                <a:gridCol w="155448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D3B3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時間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D3B3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行程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D3B3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行車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07:30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早餐（前一晚同民宿講定）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08:30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go/no-go：問民宿路況 + georoad.ge。過去幾日大雨／今朝有雪 → 改行 Mestia→Zugdidi 原路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09:00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Zagari 山口 2,623m（⚠️清晨黑冰，等太陽出咗先過）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🏍 73 km · 2:00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11:00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落到 Lentekhi — ⛽入油（Mestia 之後第一個油站）+ 午餐 kubdari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12:00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Lentekhi → Tsageri（Lechkhumi 風景路）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🏍 22 km · 0:30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13:00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可選 Muri 要塞（星期一照開，因為係廢墟）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🏍 68 km · 1:30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14:30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到 Kutaisi，check-in（15:00 起 · 早到可寄存行李）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16:00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休息／市內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19:30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晚餐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8" name="Image 0" descr="/home/user/geogria/tools/pdfbuild/img/ge_zagari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26680" y="969264"/>
            <a:ext cx="3913632" cy="1938528"/>
          </a:xfrm>
          <a:prstGeom prst="rect">
            <a:avLst/>
          </a:prstGeom>
          <a:effectLst>
            <a:outerShdw sx="100000" sy="100000" kx="0" ky="0" algn="bl" rotWithShape="0" blurRad="127000" dist="25400" dir="5400000">
              <a:srgbClr val="000000">
                <a:alpha val="22000"/>
              </a:srgbClr>
            </a:outerShdw>
          </a:effectLst>
        </p:spPr>
      </p:pic>
      <p:sp>
        <p:nvSpPr>
          <p:cNvPr id="9" name="Text 5"/>
          <p:cNvSpPr txBox="1"/>
          <p:nvPr/>
        </p:nvSpPr>
        <p:spPr>
          <a:xfrm>
            <a:off x="7726680" y="2935224"/>
            <a:ext cx="3913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A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Zagari 山口（2,620m）</a:t>
            </a:r>
            <a:endParaRPr lang="en-US" sz="800" dirty="0"/>
          </a:p>
        </p:txBody>
      </p:sp>
      <p:sp>
        <p:nvSpPr>
          <p:cNvPr id="10" name="Shape 6"/>
          <p:cNvSpPr/>
          <p:nvPr/>
        </p:nvSpPr>
        <p:spPr>
          <a:xfrm>
            <a:off x="7726680" y="3163824"/>
            <a:ext cx="3913632" cy="932815"/>
          </a:xfrm>
          <a:prstGeom prst="roundRect">
            <a:avLst>
              <a:gd name="adj" fmla="val 7842"/>
            </a:avLst>
          </a:prstGeom>
          <a:solidFill>
            <a:srgbClr val="EEF2F0"/>
          </a:solidFill>
          <a:ln w="12700">
            <a:solidFill>
              <a:srgbClr val="D6DED9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927848" y="3236976"/>
            <a:ext cx="3511296" cy="2439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🏨 Newport Hotel Kutaisi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7927848" y="3480943"/>
            <a:ext cx="351129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33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Newport Street 11/1, Mefesutubani, Kutaisi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33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Agoda 69553611 · Check-in 15:00 · Check-out 12:00 · 24h 前台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7726680" y="4224655"/>
            <a:ext cx="3913632" cy="841248"/>
          </a:xfrm>
          <a:prstGeom prst="roundRect">
            <a:avLst>
              <a:gd name="adj" fmla="val 8696"/>
            </a:avLst>
          </a:prstGeom>
          <a:solidFill>
            <a:srgbClr val="F6F9F7"/>
          </a:solidFill>
          <a:ln w="12700">
            <a:solidFill>
              <a:srgbClr val="D6DED9"/>
            </a:solidFill>
            <a:prstDash val="solid"/>
          </a:ln>
        </p:spPr>
      </p:sp>
      <p:pic>
        <p:nvPicPr>
          <p:cNvPr id="14" name="Image 1" descr="/home/user/geogria/tools/pdfbuild/img/qr/DAY11_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6408" y="4316095"/>
            <a:ext cx="658368" cy="65836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604504" y="4316095"/>
            <a:ext cx="2871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🗺 掃我開 Google Maps 路線</a:t>
            </a:r>
            <a:endParaRPr lang="en-US" sz="950" dirty="0"/>
          </a:p>
        </p:txBody>
      </p:sp>
      <p:sp>
        <p:nvSpPr>
          <p:cNvPr id="16" name="Text 11"/>
          <p:cNvSpPr txBox="1"/>
          <p:nvPr/>
        </p:nvSpPr>
        <p:spPr>
          <a:xfrm>
            <a:off x="8604504" y="4553839"/>
            <a:ext cx="2871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A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🏍 電單車 · 163 km · 約 4:00 純騎行</a:t>
            </a:r>
            <a:endParaRPr lang="en-US" sz="800" dirty="0"/>
          </a:p>
        </p:txBody>
      </p:sp>
      <p:sp>
        <p:nvSpPr>
          <p:cNvPr id="17" name="Shape 12"/>
          <p:cNvSpPr/>
          <p:nvPr/>
        </p:nvSpPr>
        <p:spPr>
          <a:xfrm>
            <a:off x="7726680" y="5193919"/>
            <a:ext cx="3913632" cy="1247648"/>
          </a:xfrm>
          <a:prstGeom prst="roundRect">
            <a:avLst>
              <a:gd name="adj" fmla="val 5863"/>
            </a:avLst>
          </a:prstGeom>
          <a:solidFill>
            <a:srgbClr val="FDF4EC"/>
          </a:solidFill>
          <a:ln w="12700">
            <a:solidFill>
              <a:srgbClr val="E8CDA9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7909560" y="5276215"/>
            <a:ext cx="3547872" cy="1083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4D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⚠️ ⚠️ 星期一全部博物館閂 → 今日設計成純戶外日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A4D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⚠️ Zagari 出發前一定要 check 天氣／路況 — 大雨後或有雪就唔好行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A4D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🗺 🔴 第一條連結（Ushguli→Zagari→Lentekhi）Google 會兜 Zugdidi 300+ km — 唔好跟！用 OsmAnd／Organic Maps 離線地圖跟唯一嗰條路（73 km／約 2 小時）。第二條 Lentekhi→Kutaisi 正常。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078992" cy="329184"/>
          </a:xfrm>
          <a:prstGeom prst="roundRect">
            <a:avLst>
              <a:gd name="adj" fmla="val 16667"/>
            </a:avLst>
          </a:prstGeom>
          <a:solidFill>
            <a:srgbClr val="D59A3C"/>
          </a:solidFill>
          <a:ln w="12700">
            <a:solidFill>
              <a:srgbClr val="D59A3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1078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12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755648" y="30175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10月6日（二）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26280" y="33832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4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Kutaisi → 第比利斯（還車）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945575" y="33832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59A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🏍 ~230 km　·　還車日</a:t>
            </a:r>
            <a:endParaRPr lang="en-US" sz="11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92040" y="969264"/>
          <a:ext cx="6766560" cy="914400"/>
        </p:xfrm>
        <a:graphic>
          <a:graphicData uri="http://schemas.openxmlformats.org/drawingml/2006/table">
            <a:tbl>
              <a:tblPr/>
              <a:tblGrid>
                <a:gridCol w="713232"/>
                <a:gridCol w="4498848"/>
                <a:gridCol w="155448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D3B3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時間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D3B3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行程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D3B3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行車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08:00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早餐（可要求前一晚打包）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09:00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出發（Rikoti 高速 2025年12月全線通車，51 條隧道，2.5–3 小時）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🏍 50 km · 0:50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10:00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可選 Katskhi 石柱（40m 獨石柱頂上有教堂）+ Chiatura 蘇聯纜車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🏍 10 km · 0:20＋ 85 km · 1:25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12:00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午餐（建議喺 Kutaisi 食飽先走／或 Surami nazuki 攤）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🏍 125 km · 1:35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14:30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到第比利斯，⛽加滿油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15:00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上 video.police.ge 查天眼罰單（有就即交）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16:00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還車 SLAVATOUR — 驗車、退 €1,700 押金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17:30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Bolt 去 Fabrika Hostel check-in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🚕 13 km · 0:25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19:30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晚餐（Fabrika 一帶）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8" name="Image 0" descr="/home/user/geogria/tools/pdfbuild/img/ge_katskhi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969264"/>
            <a:ext cx="3913632" cy="1938528"/>
          </a:xfrm>
          <a:prstGeom prst="rect">
            <a:avLst/>
          </a:prstGeom>
          <a:effectLst>
            <a:outerShdw sx="100000" sy="100000" kx="0" ky="0" algn="bl" rotWithShape="0" blurRad="127000" dist="25400" dir="5400000">
              <a:srgbClr val="000000">
                <a:alpha val="22000"/>
              </a:srgbClr>
            </a:outerShdw>
          </a:effectLst>
        </p:spPr>
      </p:pic>
      <p:sp>
        <p:nvSpPr>
          <p:cNvPr id="9" name="Text 5"/>
          <p:cNvSpPr txBox="1"/>
          <p:nvPr/>
        </p:nvSpPr>
        <p:spPr>
          <a:xfrm>
            <a:off x="548640" y="2935224"/>
            <a:ext cx="3913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A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Katskhi 石柱</a:t>
            </a:r>
            <a:endParaRPr lang="en-US" sz="800" dirty="0"/>
          </a:p>
        </p:txBody>
      </p:sp>
      <p:sp>
        <p:nvSpPr>
          <p:cNvPr id="10" name="Shape 6"/>
          <p:cNvSpPr/>
          <p:nvPr/>
        </p:nvSpPr>
        <p:spPr>
          <a:xfrm>
            <a:off x="548640" y="3163824"/>
            <a:ext cx="3913632" cy="788543"/>
          </a:xfrm>
          <a:prstGeom prst="roundRect">
            <a:avLst>
              <a:gd name="adj" fmla="val 9277"/>
            </a:avLst>
          </a:prstGeom>
          <a:solidFill>
            <a:srgbClr val="EEF2F0"/>
          </a:solidFill>
          <a:ln w="12700">
            <a:solidFill>
              <a:srgbClr val="D6DED9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49808" y="3236976"/>
            <a:ext cx="3511296" cy="2439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🏨 Fabrika Hostel &amp; Suites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749808" y="3480943"/>
            <a:ext cx="3511296" cy="343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33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Egnate Ninoshvili St, Chughureti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33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Booking.com · HK$389 · ⚠️不可退款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548640" y="4080383"/>
            <a:ext cx="3913632" cy="841248"/>
          </a:xfrm>
          <a:prstGeom prst="roundRect">
            <a:avLst>
              <a:gd name="adj" fmla="val 8696"/>
            </a:avLst>
          </a:prstGeom>
          <a:solidFill>
            <a:srgbClr val="F6F9F7"/>
          </a:solidFill>
          <a:ln w="12700">
            <a:solidFill>
              <a:srgbClr val="D6DED9"/>
            </a:solidFill>
            <a:prstDash val="solid"/>
          </a:ln>
        </p:spPr>
      </p:sp>
      <p:pic>
        <p:nvPicPr>
          <p:cNvPr id="14" name="Image 1" descr="/home/user/geogria/tools/pdfbuild/img/qr/DAY1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4171823"/>
            <a:ext cx="658368" cy="65836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426464" y="4171823"/>
            <a:ext cx="2871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🗺 掃我開 Google Maps 路線</a:t>
            </a:r>
            <a:endParaRPr lang="en-US" sz="950" dirty="0"/>
          </a:p>
        </p:txBody>
      </p:sp>
      <p:sp>
        <p:nvSpPr>
          <p:cNvPr id="16" name="Text 11"/>
          <p:cNvSpPr txBox="1"/>
          <p:nvPr/>
        </p:nvSpPr>
        <p:spPr>
          <a:xfrm>
            <a:off x="1426464" y="4409567"/>
            <a:ext cx="2871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A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🏍 電單車 · 270 km · 約 4:10 純騎行（直行唔繞 2:30–3:00）</a:t>
            </a:r>
            <a:endParaRPr lang="en-US" sz="800" dirty="0"/>
          </a:p>
        </p:txBody>
      </p:sp>
      <p:sp>
        <p:nvSpPr>
          <p:cNvPr id="17" name="Shape 12"/>
          <p:cNvSpPr/>
          <p:nvPr/>
        </p:nvSpPr>
        <p:spPr>
          <a:xfrm>
            <a:off x="548640" y="5049647"/>
            <a:ext cx="3913632" cy="959104"/>
          </a:xfrm>
          <a:prstGeom prst="roundRect">
            <a:avLst>
              <a:gd name="adj" fmla="val 7627"/>
            </a:avLst>
          </a:prstGeom>
          <a:solidFill>
            <a:srgbClr val="FDF4EC"/>
          </a:solidFill>
          <a:ln w="12700">
            <a:solidFill>
              <a:srgbClr val="E8CDA9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731520" y="5131943"/>
            <a:ext cx="3547872" cy="794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4D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⚠️ 還車時間係硬死線 — 唔好貪玩，預鬆啲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A4D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⚠️ 還車前：加滿油 + 查 video.police.ge 罰單（10 日內交有 8 折）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A4D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🗺 Katskhi／Chiatura 係可選繞路（+80 km／+1:30）；16:00 還車死線先行，直行 Rikoti 約 230 km。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078992" cy="329184"/>
          </a:xfrm>
          <a:prstGeom prst="roundRect">
            <a:avLst>
              <a:gd name="adj" fmla="val 16667"/>
            </a:avLst>
          </a:prstGeom>
          <a:solidFill>
            <a:srgbClr val="D59A3C"/>
          </a:solidFill>
          <a:ln w="12700">
            <a:solidFill>
              <a:srgbClr val="D59A3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1078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13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755648" y="30175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10月7日（三）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26280" y="33832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4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包車 第比利斯 → Debed 峽谷 → 耶烈萬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945575" y="33832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59A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🚗 ~280 km　·　🛂 過境</a:t>
            </a:r>
            <a:endParaRPr lang="en-US" sz="11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969264"/>
          <a:ext cx="6766560" cy="914400"/>
        </p:xfrm>
        <a:graphic>
          <a:graphicData uri="http://schemas.openxmlformats.org/drawingml/2006/table">
            <a:tbl>
              <a:tblPr/>
              <a:tblGrid>
                <a:gridCol w="713232"/>
                <a:gridCol w="4498848"/>
                <a:gridCol w="155448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D3B3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時間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D3B3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行程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D3B3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行車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08:00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早餐 · 執行李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09:00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GoTrip 包車接（Fabrika 出發）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🚗 75 km · 1:00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10:00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Sadakhlo／Bagratashen 過境（司機處理 · HK 護照免簽 180 日 · 30分–2小時）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🛂 過境 30分–2小時 + 🚗 30 km · 40 分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11:30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Akhtala 修道院（拜占庭壁畫鋪滿牆，40–60 分）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🚗 18 km · 30 分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13:00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Haghpat 修道院（UNESCO，45–60 分）+ 午餐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🚗 15 km · 20 分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14:30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Sanahin 修道院（UNESCO，中世紀大學，45 分）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15:30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續往耶烈萬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🚗 180 km · 2:45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18:00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到 R&amp;R Hotel check-in（17 Nalbandyan St，行 5 分鐘到共和廣場）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19:30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晚餐（可以飲酒 — 你係乘客）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8" name="Image 0" descr="/home/user/geogria/tools/pdfbuild/img/am_haghpat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26680" y="969264"/>
            <a:ext cx="3913632" cy="1938528"/>
          </a:xfrm>
          <a:prstGeom prst="rect">
            <a:avLst/>
          </a:prstGeom>
          <a:effectLst>
            <a:outerShdw sx="100000" sy="100000" kx="0" ky="0" algn="bl" rotWithShape="0" blurRad="127000" dist="25400" dir="5400000">
              <a:srgbClr val="000000">
                <a:alpha val="22000"/>
              </a:srgbClr>
            </a:outerShdw>
          </a:effectLst>
        </p:spPr>
      </p:pic>
      <p:sp>
        <p:nvSpPr>
          <p:cNvPr id="9" name="Text 5"/>
          <p:cNvSpPr txBox="1"/>
          <p:nvPr/>
        </p:nvSpPr>
        <p:spPr>
          <a:xfrm>
            <a:off x="7726680" y="2935224"/>
            <a:ext cx="3913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A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Haghpat 修道院（UNESCO）· Debed 峽谷</a:t>
            </a:r>
            <a:endParaRPr lang="en-US" sz="800" dirty="0"/>
          </a:p>
        </p:txBody>
      </p:sp>
      <p:sp>
        <p:nvSpPr>
          <p:cNvPr id="10" name="Shape 6"/>
          <p:cNvSpPr/>
          <p:nvPr/>
        </p:nvSpPr>
        <p:spPr>
          <a:xfrm>
            <a:off x="7726680" y="3163824"/>
            <a:ext cx="3913632" cy="932815"/>
          </a:xfrm>
          <a:prstGeom prst="roundRect">
            <a:avLst>
              <a:gd name="adj" fmla="val 7842"/>
            </a:avLst>
          </a:prstGeom>
          <a:solidFill>
            <a:srgbClr val="EEF2F0"/>
          </a:solidFill>
          <a:ln w="12700">
            <a:solidFill>
              <a:srgbClr val="D6DED9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927848" y="3236976"/>
            <a:ext cx="3511296" cy="2439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🏨 R&amp;R Hotel Yerevan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7927848" y="3480943"/>
            <a:ext cx="351129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33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17 Nalbandyan Street, Yerevan 0010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33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1359046727836962 · HK$1,121.50（2晚） · 7–9/10 · Economy Double/Twin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7726680" y="4224655"/>
            <a:ext cx="3913632" cy="841248"/>
          </a:xfrm>
          <a:prstGeom prst="roundRect">
            <a:avLst>
              <a:gd name="adj" fmla="val 8696"/>
            </a:avLst>
          </a:prstGeom>
          <a:solidFill>
            <a:srgbClr val="F6F9F7"/>
          </a:solidFill>
          <a:ln w="12700">
            <a:solidFill>
              <a:srgbClr val="D6DED9"/>
            </a:solidFill>
            <a:prstDash val="solid"/>
          </a:ln>
        </p:spPr>
      </p:sp>
      <p:pic>
        <p:nvPicPr>
          <p:cNvPr id="14" name="Image 1" descr="/home/user/geogria/tools/pdfbuild/img/qr/DAY1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6408" y="4316095"/>
            <a:ext cx="658368" cy="65836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604504" y="4316095"/>
            <a:ext cx="2871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🗺 掃我開 Google Maps 路線</a:t>
            </a:r>
            <a:endParaRPr lang="en-US" sz="950" dirty="0"/>
          </a:p>
        </p:txBody>
      </p:sp>
      <p:sp>
        <p:nvSpPr>
          <p:cNvPr id="16" name="Text 11"/>
          <p:cNvSpPr txBox="1"/>
          <p:nvPr/>
        </p:nvSpPr>
        <p:spPr>
          <a:xfrm>
            <a:off x="8604504" y="4553839"/>
            <a:ext cx="2871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A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🚗 GoTrip 包車 · 318 km · 約 5:15 車程 + 過境 30 分–2 小時（OSRM 308.6 km／6:08）</a:t>
            </a:r>
            <a:endParaRPr lang="en-US" sz="800" dirty="0"/>
          </a:p>
        </p:txBody>
      </p:sp>
      <p:sp>
        <p:nvSpPr>
          <p:cNvPr id="17" name="Shape 12"/>
          <p:cNvSpPr/>
          <p:nvPr/>
        </p:nvSpPr>
        <p:spPr>
          <a:xfrm>
            <a:off x="7726680" y="5193919"/>
            <a:ext cx="3913632" cy="1103376"/>
          </a:xfrm>
          <a:prstGeom prst="roundRect">
            <a:avLst>
              <a:gd name="adj" fmla="val 6630"/>
            </a:avLst>
          </a:prstGeom>
          <a:solidFill>
            <a:srgbClr val="FDF4EC"/>
          </a:solidFill>
          <a:ln w="12700">
            <a:solidFill>
              <a:srgbClr val="E8CDA9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7909560" y="5276215"/>
            <a:ext cx="3547872" cy="938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4D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⚠️ 電單車唔過境 → 唔使 POA 授權書、唔使亞美尼亞車保、唔使煩駕照 — 你今日係乘客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A4D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⚠️ 帶護照 · 換定 AMD（口岸換錢率差，只換夠用）· 過境隊時間浮動 30分–2小時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A4D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🗺 Sadakhlo／Bagratashen 過境排隊 30 分–2 小時未計；Google 經 Sadakhlo 係正確口岸。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078992" cy="329184"/>
          </a:xfrm>
          <a:prstGeom prst="roundRect">
            <a:avLst>
              <a:gd name="adj" fmla="val 16667"/>
            </a:avLst>
          </a:prstGeom>
          <a:solidFill>
            <a:srgbClr val="D59A3C"/>
          </a:solidFill>
          <a:ln w="12700">
            <a:solidFill>
              <a:srgbClr val="D59A3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1078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14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755648" y="30175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10月8日（四）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26280" y="33832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4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耶烈萬 + Garni / Geghard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945575" y="33832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59A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🚗 ~80 km　·　亞美尼亞玩到今日</a:t>
            </a:r>
            <a:endParaRPr lang="en-US" sz="11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92040" y="969264"/>
          <a:ext cx="6766560" cy="914400"/>
        </p:xfrm>
        <a:graphic>
          <a:graphicData uri="http://schemas.openxmlformats.org/drawingml/2006/table">
            <a:tbl>
              <a:tblPr/>
              <a:tblGrid>
                <a:gridCol w="713232"/>
                <a:gridCol w="4498848"/>
                <a:gridCol w="155448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D3B3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時間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D3B3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行程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D3B3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行車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08:00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早餐（酒店，或 Lavash 早餐 — 唯一唔使訂位嘅時段）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09:00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出發去 Geghard 修道院（早去，10:30 旅遊巴到）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🚗 40 km · 0:50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10:00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Geghard（UNESCO 岩鑿修道院，1 小時）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🚗 10 km · 0:20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11:15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Garni 神廟 + 石之交響曲玄武岩柱（1.5 小時）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🚗 35 km · 0:50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13:30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返耶烈萬午餐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🚶 1.5 km · 20 分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15:00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Matenadaran 古手稿館（⚠️逢日／一休，今日四開 · 16:00 前入場）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🚶 0.5 km · 7 分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17:30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Cascade 階梯黃金時分（Ararat 光線 + 華燈初上）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🚶 1.2 km · 15 分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19:30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晚餐 · 執行李（明朝早機）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8" name="Image 0" descr="/home/user/geogria/tools/pdfbuild/img/am_geghard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969264"/>
            <a:ext cx="3913632" cy="1938528"/>
          </a:xfrm>
          <a:prstGeom prst="rect">
            <a:avLst/>
          </a:prstGeom>
          <a:effectLst>
            <a:outerShdw sx="100000" sy="100000" kx="0" ky="0" algn="bl" rotWithShape="0" blurRad="127000" dist="25400" dir="5400000">
              <a:srgbClr val="000000">
                <a:alpha val="22000"/>
              </a:srgbClr>
            </a:outerShdw>
          </a:effectLst>
        </p:spPr>
      </p:pic>
      <p:sp>
        <p:nvSpPr>
          <p:cNvPr id="9" name="Text 5"/>
          <p:cNvSpPr txBox="1"/>
          <p:nvPr/>
        </p:nvSpPr>
        <p:spPr>
          <a:xfrm>
            <a:off x="548640" y="2935224"/>
            <a:ext cx="3913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A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Geghard 岩鑿修道院（UNESCO）</a:t>
            </a:r>
            <a:endParaRPr lang="en-US" sz="800" dirty="0"/>
          </a:p>
        </p:txBody>
      </p:sp>
      <p:sp>
        <p:nvSpPr>
          <p:cNvPr id="10" name="Shape 6"/>
          <p:cNvSpPr/>
          <p:nvPr/>
        </p:nvSpPr>
        <p:spPr>
          <a:xfrm>
            <a:off x="548640" y="3163824"/>
            <a:ext cx="3913632" cy="788543"/>
          </a:xfrm>
          <a:prstGeom prst="roundRect">
            <a:avLst>
              <a:gd name="adj" fmla="val 9277"/>
            </a:avLst>
          </a:prstGeom>
          <a:solidFill>
            <a:srgbClr val="EEF2F0"/>
          </a:solidFill>
          <a:ln w="12700">
            <a:solidFill>
              <a:srgbClr val="D6DED9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49808" y="3236976"/>
            <a:ext cx="3511296" cy="2439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🏨 R&amp;R Hotel Yerevan（第二晚）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749808" y="3480943"/>
            <a:ext cx="3511296" cy="343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33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17 Nalbandyan Street, Yerevan 0010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33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1359046727836962 · （同 7/10）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548640" y="4080383"/>
            <a:ext cx="3913632" cy="841248"/>
          </a:xfrm>
          <a:prstGeom prst="roundRect">
            <a:avLst>
              <a:gd name="adj" fmla="val 8696"/>
            </a:avLst>
          </a:prstGeom>
          <a:solidFill>
            <a:srgbClr val="F6F9F7"/>
          </a:solidFill>
          <a:ln w="12700">
            <a:solidFill>
              <a:srgbClr val="D6DED9"/>
            </a:solidFill>
            <a:prstDash val="solid"/>
          </a:ln>
        </p:spPr>
      </p:sp>
      <p:pic>
        <p:nvPicPr>
          <p:cNvPr id="14" name="Image 1" descr="/home/user/geogria/tools/pdfbuild/img/qr/DAY1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4171823"/>
            <a:ext cx="658368" cy="65836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426464" y="4171823"/>
            <a:ext cx="2871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🗺 掃我開 Google Maps 路線</a:t>
            </a:r>
            <a:endParaRPr lang="en-US" sz="950" dirty="0"/>
          </a:p>
        </p:txBody>
      </p:sp>
      <p:sp>
        <p:nvSpPr>
          <p:cNvPr id="16" name="Text 11"/>
          <p:cNvSpPr txBox="1"/>
          <p:nvPr/>
        </p:nvSpPr>
        <p:spPr>
          <a:xfrm>
            <a:off x="1426464" y="4409567"/>
            <a:ext cx="2871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A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🚗 的士／包車 · 85 km · 2:00 車程（OSRM 81.8 km／2:07）+ 市內步行約 3 km</a:t>
            </a:r>
            <a:endParaRPr lang="en-US" sz="800" dirty="0"/>
          </a:p>
        </p:txBody>
      </p:sp>
      <p:sp>
        <p:nvSpPr>
          <p:cNvPr id="17" name="Shape 12"/>
          <p:cNvSpPr/>
          <p:nvPr/>
        </p:nvSpPr>
        <p:spPr>
          <a:xfrm>
            <a:off x="548640" y="5049647"/>
            <a:ext cx="3913632" cy="959104"/>
          </a:xfrm>
          <a:prstGeom prst="roundRect">
            <a:avLst>
              <a:gd name="adj" fmla="val 7627"/>
            </a:avLst>
          </a:prstGeom>
          <a:solidFill>
            <a:srgbClr val="FDF4EC"/>
          </a:solidFill>
          <a:ln w="12700">
            <a:solidFill>
              <a:srgbClr val="E8CDA9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731520" y="5131943"/>
            <a:ext cx="3547872" cy="794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4D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⚠️ ⚠️ Cafesjian 室內畫廊 Fri–Sun 先開 → 今日四入唔到，但戶外 Cascade 階梯照行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A4D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⚠️ 明朝 11:00 早機 → 亞美尼亞玩到今日為止，今晚執定行李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A4D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🗺 次序跟行程表：先 Geghard 後 Garni；市內 Matenadaran／Cascade 步行。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078992" cy="329184"/>
          </a:xfrm>
          <a:prstGeom prst="roundRect">
            <a:avLst>
              <a:gd name="adj" fmla="val 16667"/>
            </a:avLst>
          </a:prstGeom>
          <a:solidFill>
            <a:srgbClr val="D59A3C"/>
          </a:solidFill>
          <a:ln w="12700">
            <a:solidFill>
              <a:srgbClr val="D59A3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1078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15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755648" y="30175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10月9日（五）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26280" y="33832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4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飛返第比利斯 → 市內觀光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945575" y="33832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59A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✈️ 3F583 11:00　·　🏛 觀光下午</a:t>
            </a:r>
            <a:endParaRPr lang="en-US" sz="11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969264"/>
          <a:ext cx="6766560" cy="914400"/>
        </p:xfrm>
        <a:graphic>
          <a:graphicData uri="http://schemas.openxmlformats.org/drawingml/2006/table">
            <a:tbl>
              <a:tblPr/>
              <a:tblGrid>
                <a:gridCol w="713232"/>
                <a:gridCol w="4498848"/>
                <a:gridCol w="155448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D3B3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時間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D3B3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行程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D3B3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行車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07:00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早餐（酒店最早時段／Karas 24小時）· 可選 Cascade 日出（07:20，10月初空氣最清）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08:30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去 EVN 機場（酒店接送／的士，約 20 分鐘）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🚕 10 km · 20 分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09:30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到 Zvartnots (EVN) check-in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11:00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FlyOne 3F 583 起飛（A320，40 分鐘）✅已訂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✈️ 3F583 40 分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11:40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到 第比利斯 TBS → Bolt 入城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🚕 18 km · 30 分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12:45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Check-in Fabrika · 放低行李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🚶 2.3 km · 30 分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13:30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第比利斯觀光①：舊城 Kala · Abanotubani 浴場區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🚶 0.2 km · 3 分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15:00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硫磺浴（Chreli-Abano，⚠️120–200 GEL/房/鐘，兩人分）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🚶 0.6 km · 12 分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16:45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Narikala 山脊 + 纜車 + 格魯吉亞之母（黃昏最靚 · ⚠️城堡本體維修封閉）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🚶 0.7 km · 10 分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18:28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日落 · 和平橋 + Rike 公園夜景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🚕 3 km · 10 分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20:00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告別晚餐 Barbarestan（要提早訂）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🚶 1.2 km · 15 分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8" name="Image 0" descr="/home/user/geogria/tools/pdfbuild/img/ge_tbilisi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26680" y="969264"/>
            <a:ext cx="3913632" cy="1938528"/>
          </a:xfrm>
          <a:prstGeom prst="rect">
            <a:avLst/>
          </a:prstGeom>
          <a:effectLst>
            <a:outerShdw sx="100000" sy="100000" kx="0" ky="0" algn="bl" rotWithShape="0" blurRad="127000" dist="25400" dir="5400000">
              <a:srgbClr val="000000">
                <a:alpha val="22000"/>
              </a:srgbClr>
            </a:outerShdw>
          </a:effectLst>
        </p:spPr>
      </p:pic>
      <p:sp>
        <p:nvSpPr>
          <p:cNvPr id="9" name="Text 5"/>
          <p:cNvSpPr txBox="1"/>
          <p:nvPr/>
        </p:nvSpPr>
        <p:spPr>
          <a:xfrm>
            <a:off x="7726680" y="2935224"/>
            <a:ext cx="3913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A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第比利斯老城 · Narikala 城堡望落去</a:t>
            </a:r>
            <a:endParaRPr lang="en-US" sz="800" dirty="0"/>
          </a:p>
        </p:txBody>
      </p:sp>
      <p:sp>
        <p:nvSpPr>
          <p:cNvPr id="10" name="Shape 6"/>
          <p:cNvSpPr/>
          <p:nvPr/>
        </p:nvSpPr>
        <p:spPr>
          <a:xfrm>
            <a:off x="7726680" y="3163824"/>
            <a:ext cx="3913632" cy="788543"/>
          </a:xfrm>
          <a:prstGeom prst="roundRect">
            <a:avLst>
              <a:gd name="adj" fmla="val 9277"/>
            </a:avLst>
          </a:prstGeom>
          <a:solidFill>
            <a:srgbClr val="EEF2F0"/>
          </a:solidFill>
          <a:ln w="12700">
            <a:solidFill>
              <a:srgbClr val="D6DED9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927848" y="3236976"/>
            <a:ext cx="3511296" cy="2439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🏨 Fabrika Hostel &amp; Suites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7927848" y="3480943"/>
            <a:ext cx="3511296" cy="343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33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Egnate Ninoshvili St, Chughureti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33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Booking.com · HK$425 · ⚠️不可退款 · Check-out 11:00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7726680" y="4080383"/>
            <a:ext cx="3913632" cy="841248"/>
          </a:xfrm>
          <a:prstGeom prst="roundRect">
            <a:avLst>
              <a:gd name="adj" fmla="val 8696"/>
            </a:avLst>
          </a:prstGeom>
          <a:solidFill>
            <a:srgbClr val="F6F9F7"/>
          </a:solidFill>
          <a:ln w="12700">
            <a:solidFill>
              <a:srgbClr val="D6DED9"/>
            </a:solidFill>
            <a:prstDash val="solid"/>
          </a:ln>
        </p:spPr>
      </p:sp>
      <p:pic>
        <p:nvPicPr>
          <p:cNvPr id="14" name="Image 1" descr="/home/user/geogria/tools/pdfbuild/img/qr/DAY15_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6408" y="4171823"/>
            <a:ext cx="658368" cy="65836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604504" y="4171823"/>
            <a:ext cx="2871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🗺 掃我開 Google Maps 路線</a:t>
            </a:r>
            <a:endParaRPr lang="en-US" sz="950" dirty="0"/>
          </a:p>
        </p:txBody>
      </p:sp>
      <p:sp>
        <p:nvSpPr>
          <p:cNvPr id="16" name="Text 11"/>
          <p:cNvSpPr txBox="1"/>
          <p:nvPr/>
        </p:nvSpPr>
        <p:spPr>
          <a:xfrm>
            <a:off x="8604504" y="4409567"/>
            <a:ext cx="2871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A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✈️ + 🚶 市內（第比利斯） · 36 km · 約 1:00 車 + ✈️ 40 分 + 約 1:10 步行</a:t>
            </a:r>
            <a:endParaRPr lang="en-US" sz="800" dirty="0"/>
          </a:p>
        </p:txBody>
      </p:sp>
      <p:sp>
        <p:nvSpPr>
          <p:cNvPr id="17" name="Shape 12"/>
          <p:cNvSpPr/>
          <p:nvPr/>
        </p:nvSpPr>
        <p:spPr>
          <a:xfrm>
            <a:off x="7726680" y="5049647"/>
            <a:ext cx="3913632" cy="959104"/>
          </a:xfrm>
          <a:prstGeom prst="roundRect">
            <a:avLst>
              <a:gd name="adj" fmla="val 7627"/>
            </a:avLst>
          </a:prstGeom>
          <a:solidFill>
            <a:srgbClr val="FDF4EC"/>
          </a:solidFill>
          <a:ln w="12700">
            <a:solidFill>
              <a:srgbClr val="E8CDA9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7909560" y="5131943"/>
            <a:ext cx="3547872" cy="794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4D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⚠️ 11:00 起飛 → 09:30 到 EVN → Yerevan 朝早乜都未開（全部 10:00 起），唔好諗住去景點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A4D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⚠️ 硫磺浴實價比一般資料貴好多，預 120–200 GEL/房/鐘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A4D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🗺 兩條連結：① R&amp;R→EVN 機場 ② TBS 機場→Fabrika→舊城→Barbarestan；舊城段全部行得到。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078992" cy="329184"/>
          </a:xfrm>
          <a:prstGeom prst="roundRect">
            <a:avLst>
              <a:gd name="adj" fmla="val 16667"/>
            </a:avLst>
          </a:prstGeom>
          <a:solidFill>
            <a:srgbClr val="D59A3C"/>
          </a:solidFill>
          <a:ln w="12700">
            <a:solidFill>
              <a:srgbClr val="D59A3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1078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16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755648" y="30175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10月10日（六）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26280" y="33832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4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第比利斯朝 → 回程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945575" y="33832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59A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✈️ QR256 14:00　·　觀光 08:00–11:00</a:t>
            </a:r>
            <a:endParaRPr lang="en-US" sz="11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92040" y="969264"/>
          <a:ext cx="6766560" cy="914400"/>
        </p:xfrm>
        <a:graphic>
          <a:graphicData uri="http://schemas.openxmlformats.org/drawingml/2006/table">
            <a:tbl>
              <a:tblPr/>
              <a:tblGrid>
                <a:gridCol w="713232"/>
                <a:gridCol w="4498848"/>
                <a:gridCol w="155448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D3B3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時間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D3B3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行程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D3B3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行車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08:00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早餐 The Blue Fox（08:00 開，舊城最可靠）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🚶 1.3 km · 16 分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09:00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Dry Bridge 古董市集（⚠️只收現金 · 09:30–11:00 係甜蜜點）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🚶 1.6 km · 20 分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10:00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可選 Dezerter 巴刹（週六最旺）／Sameba 大教堂／08:00 冇人嘅舊城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🚶 1.0 km · 13 分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10:45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返酒店取行李（11:00 退房）→ Bolt 去 TBS（約 20 GEL）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🚕 20 km · 27 分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11:45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到機場（check-in 閂櫃 13:00）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14:00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QR 256 起飛 → 多哈 16:15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✈️ QR256 3 小時 15 分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8" name="Image 0" descr="/home/user/geogria/tools/pdfbuild/img/ge_abanotubani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969264"/>
            <a:ext cx="3913632" cy="1938528"/>
          </a:xfrm>
          <a:prstGeom prst="rect">
            <a:avLst/>
          </a:prstGeom>
          <a:effectLst>
            <a:outerShdw sx="100000" sy="100000" kx="0" ky="0" algn="bl" rotWithShape="0" blurRad="127000" dist="25400" dir="5400000">
              <a:srgbClr val="000000">
                <a:alpha val="22000"/>
              </a:srgbClr>
            </a:outerShdw>
          </a:effectLst>
        </p:spPr>
      </p:pic>
      <p:sp>
        <p:nvSpPr>
          <p:cNvPr id="9" name="Text 5"/>
          <p:cNvSpPr txBox="1"/>
          <p:nvPr/>
        </p:nvSpPr>
        <p:spPr>
          <a:xfrm>
            <a:off x="548640" y="2935224"/>
            <a:ext cx="3913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A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Abanotubani 硫磺浴區 · 第比利斯</a:t>
            </a:r>
            <a:endParaRPr lang="en-US" sz="800" dirty="0"/>
          </a:p>
        </p:txBody>
      </p:sp>
      <p:sp>
        <p:nvSpPr>
          <p:cNvPr id="10" name="Shape 6"/>
          <p:cNvSpPr/>
          <p:nvPr/>
        </p:nvSpPr>
        <p:spPr>
          <a:xfrm>
            <a:off x="548640" y="3163824"/>
            <a:ext cx="3913632" cy="499999"/>
          </a:xfrm>
          <a:prstGeom prst="roundRect">
            <a:avLst>
              <a:gd name="adj" fmla="val 14630"/>
            </a:avLst>
          </a:prstGeom>
          <a:solidFill>
            <a:srgbClr val="EEF2F0"/>
          </a:solidFill>
          <a:ln w="12700">
            <a:solidFill>
              <a:srgbClr val="D6DED9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49808" y="3236976"/>
            <a:ext cx="3511296" cy="2439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🏨 ✈️ 過夜機上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749808" y="3480943"/>
            <a:ext cx="351129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548640" y="3791839"/>
            <a:ext cx="3913632" cy="841248"/>
          </a:xfrm>
          <a:prstGeom prst="roundRect">
            <a:avLst>
              <a:gd name="adj" fmla="val 8696"/>
            </a:avLst>
          </a:prstGeom>
          <a:solidFill>
            <a:srgbClr val="F6F9F7"/>
          </a:solidFill>
          <a:ln w="12700">
            <a:solidFill>
              <a:srgbClr val="D6DED9"/>
            </a:solidFill>
            <a:prstDash val="solid"/>
          </a:ln>
        </p:spPr>
      </p:sp>
      <p:pic>
        <p:nvPicPr>
          <p:cNvPr id="14" name="Image 1" descr="/home/user/geogria/tools/pdfbuild/img/qr/DAY1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883279"/>
            <a:ext cx="658368" cy="65836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426464" y="3883279"/>
            <a:ext cx="2871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🗺 掃我開 Google Maps 路線</a:t>
            </a:r>
            <a:endParaRPr lang="en-US" sz="950" dirty="0"/>
          </a:p>
        </p:txBody>
      </p:sp>
      <p:sp>
        <p:nvSpPr>
          <p:cNvPr id="16" name="Text 11"/>
          <p:cNvSpPr txBox="1"/>
          <p:nvPr/>
        </p:nvSpPr>
        <p:spPr>
          <a:xfrm>
            <a:off x="1426464" y="4121023"/>
            <a:ext cx="2871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A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🚶 市內 + ✈️ · 26.1 km · 27 分車 + 約 1:15 步行（含早餐前 2.2 km）+ ✈️ 3:15</a:t>
            </a:r>
            <a:endParaRPr lang="en-US" sz="800" dirty="0"/>
          </a:p>
        </p:txBody>
      </p:sp>
      <p:sp>
        <p:nvSpPr>
          <p:cNvPr id="17" name="Shape 12"/>
          <p:cNvSpPr/>
          <p:nvPr/>
        </p:nvSpPr>
        <p:spPr>
          <a:xfrm>
            <a:off x="548640" y="4761103"/>
            <a:ext cx="3913632" cy="959104"/>
          </a:xfrm>
          <a:prstGeom prst="roundRect">
            <a:avLst>
              <a:gd name="adj" fmla="val 7627"/>
            </a:avLst>
          </a:prstGeom>
          <a:solidFill>
            <a:srgbClr val="FDF4EC"/>
          </a:solidFill>
          <a:ln w="12700">
            <a:solidFill>
              <a:srgbClr val="E8CDA9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731520" y="4843399"/>
            <a:ext cx="3547872" cy="794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4D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⚠️ 10:45 出發去機場（退房 11:00）— 14:00 機，13:00 閂櫃，咁樣有 2h40 buffer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A4D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⚠️ Dry Bridge 只收現金 — 留返啲 GEL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A4D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🗺 早餐前由 Fabrika 行去舊城約 2.2 km（或 Bolt 8 分）；Dry Bridge 市集只收現金。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078992" cy="329184"/>
          </a:xfrm>
          <a:prstGeom prst="roundRect">
            <a:avLst>
              <a:gd name="adj" fmla="val 16667"/>
            </a:avLst>
          </a:prstGeom>
          <a:solidFill>
            <a:srgbClr val="D59A3C"/>
          </a:solidFill>
          <a:ln w="12700">
            <a:solidFill>
              <a:srgbClr val="D59A3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1078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17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755648" y="30175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10月11日（日）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26280" y="33832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4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多哈 → 吉隆坡 → 香港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945575" y="33832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59A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⚠️轉機只得 2h30　·　22:00 到港</a:t>
            </a:r>
            <a:endParaRPr lang="en-US" sz="11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969264"/>
          <a:ext cx="6766560" cy="914400"/>
        </p:xfrm>
        <a:graphic>
          <a:graphicData uri="http://schemas.openxmlformats.org/drawingml/2006/table">
            <a:tbl>
              <a:tblPr/>
              <a:tblGrid>
                <a:gridCol w="713232"/>
                <a:gridCol w="4498848"/>
                <a:gridCol w="155448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D3B3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時間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D3B3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行程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D3B3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行車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02:35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QR 852 起飛（多哈 → 吉隆坡）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✈️ QR852 約 7.5 小時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15:10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到吉隆坡 KLIA T1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15:20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⚠️取行李 → 過入境 → 重新 check-in 國泰（兩張唔同機票，唔會直掛）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🚶 T1 內：取行李→入境→國泰重新 check-in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16:40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國泰櫃位 check-in 完 · 過安檢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17:40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CX 724 起飛 吉隆坡 → 香港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✈️ CX724 約 4 小時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4A4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22:00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到香港 🏁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8" name="Image 0" descr="/home/user/geogria/tools/pdfbuild/img/doha_nmoq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26680" y="969264"/>
            <a:ext cx="3913632" cy="1938528"/>
          </a:xfrm>
          <a:prstGeom prst="rect">
            <a:avLst/>
          </a:prstGeom>
          <a:effectLst>
            <a:outerShdw sx="100000" sy="100000" kx="0" ky="0" algn="bl" rotWithShape="0" blurRad="127000" dist="25400" dir="5400000">
              <a:srgbClr val="000000">
                <a:alpha val="22000"/>
              </a:srgbClr>
            </a:outerShdw>
          </a:effectLst>
        </p:spPr>
      </p:pic>
      <p:sp>
        <p:nvSpPr>
          <p:cNvPr id="9" name="Text 5"/>
          <p:cNvSpPr txBox="1"/>
          <p:nvPr/>
        </p:nvSpPr>
        <p:spPr>
          <a:xfrm>
            <a:off x="7726680" y="2935224"/>
            <a:ext cx="3913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A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卡塔爾國家博物館「沙漠玫瑰」· 多哈</a:t>
            </a:r>
            <a:endParaRPr lang="en-US" sz="800" dirty="0"/>
          </a:p>
        </p:txBody>
      </p:sp>
      <p:sp>
        <p:nvSpPr>
          <p:cNvPr id="10" name="Shape 6"/>
          <p:cNvSpPr/>
          <p:nvPr/>
        </p:nvSpPr>
        <p:spPr>
          <a:xfrm>
            <a:off x="7726680" y="3163824"/>
            <a:ext cx="3913632" cy="1103376"/>
          </a:xfrm>
          <a:prstGeom prst="roundRect">
            <a:avLst>
              <a:gd name="adj" fmla="val 6630"/>
            </a:avLst>
          </a:prstGeom>
          <a:solidFill>
            <a:srgbClr val="FDF4EC"/>
          </a:solidFill>
          <a:ln w="12700">
            <a:solidFill>
              <a:srgbClr val="E8CDA9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909560" y="3246120"/>
            <a:ext cx="3547872" cy="938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4D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⚠️ ⚠️ QR852 同 CX724 係兩張唔同機票 — 行李唔會直掛去香港，要喺吉隆坡取行李、過入境、再 check-in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A4D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⚠️ ⚠️ 只得 2 小時 30 分鐘轉機 — 夠，但零 buffer。QR852 一延誤就會影響 CX724，買旅遊保時留意有冇 missed connection 保障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A4D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🗺 全日航班，冇道路段；KLIA T1 兩張機票自轉機只得 2h30。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仲要訂咩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50976"/>
            <a:ext cx="8778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RESERVATIONS · 紅色＝真係會冇位，黃色＝到咗先訂都得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33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🔴 而家就要訂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6766560" cy="512064"/>
          </a:xfrm>
          <a:prstGeom prst="roundRect">
            <a:avLst>
              <a:gd name="adj" fmla="val 10714"/>
            </a:avLst>
          </a:prstGeom>
          <a:solidFill>
            <a:srgbClr val="F6F9F7"/>
          </a:solidFill>
          <a:ln w="12700">
            <a:solidFill>
              <a:srgbClr val="E2E8E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86537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雙子塔 Skybridge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08483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A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26/9 六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184708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233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RM80–98/人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48640" y="2395728"/>
            <a:ext cx="6766560" cy="512064"/>
          </a:xfrm>
          <a:prstGeom prst="roundRect">
            <a:avLst>
              <a:gd name="adj" fmla="val 10714"/>
            </a:avLst>
          </a:prstGeom>
          <a:solidFill>
            <a:srgbClr val="F6F9F7"/>
          </a:solidFill>
          <a:ln w="12700">
            <a:solidFill>
              <a:srgbClr val="E2E8E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43230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Toma's Wine Cellar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265176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A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2/10 五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2414016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233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~50 GEL/人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48640" y="2962656"/>
            <a:ext cx="6766560" cy="512064"/>
          </a:xfrm>
          <a:prstGeom prst="roundRect">
            <a:avLst>
              <a:gd name="adj" fmla="val 10714"/>
            </a:avLst>
          </a:prstGeom>
          <a:solidFill>
            <a:srgbClr val="F6F9F7"/>
          </a:solidFill>
          <a:ln w="12700">
            <a:solidFill>
              <a:srgbClr val="E2E8E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299923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Chreli-Abano 硫磺浴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21868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A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9/10 五晚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4754880" y="2980944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233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130 GEL/房/鐘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48640" y="3529584"/>
            <a:ext cx="6766560" cy="512064"/>
          </a:xfrm>
          <a:prstGeom prst="roundRect">
            <a:avLst>
              <a:gd name="adj" fmla="val 10714"/>
            </a:avLst>
          </a:prstGeom>
          <a:solidFill>
            <a:srgbClr val="F6F9F7"/>
          </a:solidFill>
          <a:ln w="12700">
            <a:solidFill>
              <a:srgbClr val="E2E8E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356616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ARARAT 白蘭地英文團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378561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A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8/10 四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4754880" y="354787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233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4,500 AMD/人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48640" y="4096512"/>
            <a:ext cx="6766560" cy="512064"/>
          </a:xfrm>
          <a:prstGeom prst="roundRect">
            <a:avLst>
              <a:gd name="adj" fmla="val 10714"/>
            </a:avLst>
          </a:prstGeom>
          <a:solidFill>
            <a:srgbClr val="F6F9F7"/>
          </a:solidFill>
          <a:ln w="12700">
            <a:solidFill>
              <a:srgbClr val="E2E8E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1520" y="413308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🏜 沙漠內海日出團（27/9 日，或改 28/9 朝）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435254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A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27/9 03:45–09:00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4754880" y="411480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233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QIT QAR 275/人 · GYG US$58/人 · 365 Adventures 2 人 Q…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48640" y="4663440"/>
            <a:ext cx="6766560" cy="512064"/>
          </a:xfrm>
          <a:prstGeom prst="roundRect">
            <a:avLst>
              <a:gd name="adj" fmla="val 10714"/>
            </a:avLst>
          </a:prstGeom>
          <a:solidFill>
            <a:srgbClr val="F6F9F7"/>
          </a:solidFill>
          <a:ln w="12700">
            <a:solidFill>
              <a:srgbClr val="E2E8E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1520" y="470001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Landscapes Hotel 問早餐＋泊車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731520" y="491947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A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29–30/9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4754880" y="468172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233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48640" y="5230368"/>
            <a:ext cx="6766560" cy="512064"/>
          </a:xfrm>
          <a:prstGeom prst="roundRect">
            <a:avLst>
              <a:gd name="adj" fmla="val 10714"/>
            </a:avLst>
          </a:prstGeom>
          <a:solidFill>
            <a:srgbClr val="F6F9F7"/>
          </a:solidFill>
          <a:ln w="12700">
            <a:solidFill>
              <a:srgbClr val="E2E8E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31520" y="526694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Keti Margiani 訂餐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731520" y="548640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A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3–4/10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4754880" y="5248656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233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晚餐 25–45 · 早餐 15 GEL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48640" y="5797296"/>
            <a:ext cx="6766560" cy="512064"/>
          </a:xfrm>
          <a:prstGeom prst="roundRect">
            <a:avLst>
              <a:gd name="adj" fmla="val 10714"/>
            </a:avLst>
          </a:prstGeom>
          <a:solidFill>
            <a:srgbClr val="F6F9F7"/>
          </a:solidFill>
          <a:ln w="12700">
            <a:solidFill>
              <a:srgbClr val="E2E8E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31520" y="583387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Mountain house 訂餐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731520" y="605332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A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4–5/10</a:t>
            </a:r>
            <a:endParaRPr lang="en-US" sz="850" dirty="0"/>
          </a:p>
        </p:txBody>
      </p:sp>
      <p:sp>
        <p:nvSpPr>
          <p:cNvPr id="36" name="Text 34"/>
          <p:cNvSpPr txBox="1"/>
          <p:nvPr/>
        </p:nvSpPr>
        <p:spPr>
          <a:xfrm>
            <a:off x="4754880" y="5815584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233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晚餐 30–50 GEL 現金</a:t>
            </a:r>
            <a:endParaRPr lang="en-US" sz="850" dirty="0"/>
          </a:p>
        </p:txBody>
      </p:sp>
      <p:sp>
        <p:nvSpPr>
          <p:cNvPr id="37" name="Text 35"/>
          <p:cNvSpPr txBox="1"/>
          <p:nvPr/>
        </p:nvSpPr>
        <p:spPr>
          <a:xfrm>
            <a:off x="7635240" y="14630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B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✅ 已經訂好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7635240" y="1828800"/>
            <a:ext cx="4005072" cy="512064"/>
          </a:xfrm>
          <a:prstGeom prst="roundRect">
            <a:avLst>
              <a:gd name="adj" fmla="val 10714"/>
            </a:avLst>
          </a:prstGeom>
          <a:solidFill>
            <a:srgbClr val="EEF2F0"/>
          </a:solidFill>
          <a:ln w="12700">
            <a:solidFill>
              <a:srgbClr val="C9DAC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818120" y="186537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Maisi 晚餐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7818120" y="208483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A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29/9 二 19:30–21:00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7635240" y="2395728"/>
            <a:ext cx="4005072" cy="512064"/>
          </a:xfrm>
          <a:prstGeom prst="roundRect">
            <a:avLst>
              <a:gd name="adj" fmla="val 10714"/>
            </a:avLst>
          </a:prstGeom>
          <a:solidFill>
            <a:srgbClr val="EEF2F0"/>
          </a:solidFill>
          <a:ln w="12700">
            <a:solidFill>
              <a:srgbClr val="C9DAC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818120" y="24323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Schuchmann 酒浴 Wine SPA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7818120" y="265176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A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1/10 四 18:00–19:00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7635240" y="2962656"/>
            <a:ext cx="4005072" cy="512064"/>
          </a:xfrm>
          <a:prstGeom prst="roundRect">
            <a:avLst>
              <a:gd name="adj" fmla="val 10714"/>
            </a:avLst>
          </a:prstGeom>
          <a:solidFill>
            <a:srgbClr val="EEF2F0"/>
          </a:solidFill>
          <a:ln w="12700">
            <a:solidFill>
              <a:srgbClr val="C9DACF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818120" y="299923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Jiwan @ NMoQ</a:t>
            </a:r>
            <a:endParaRPr lang="en-US" sz="1050" dirty="0"/>
          </a:p>
        </p:txBody>
      </p:sp>
      <p:sp>
        <p:nvSpPr>
          <p:cNvPr id="46" name="Text 44"/>
          <p:cNvSpPr txBox="1"/>
          <p:nvPr/>
        </p:nvSpPr>
        <p:spPr>
          <a:xfrm>
            <a:off x="7818120" y="321868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A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27/9 日 13:00 · 2 位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635240" y="3529584"/>
            <a:ext cx="4005072" cy="512064"/>
          </a:xfrm>
          <a:prstGeom prst="roundRect">
            <a:avLst>
              <a:gd name="adj" fmla="val 10714"/>
            </a:avLst>
          </a:prstGeom>
          <a:solidFill>
            <a:srgbClr val="EEF2F0"/>
          </a:solidFill>
          <a:ln w="12700">
            <a:solidFill>
              <a:srgbClr val="C9DACF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818120" y="35661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Palaty</a:t>
            </a:r>
            <a:endParaRPr lang="en-US" sz="1050" dirty="0"/>
          </a:p>
        </p:txBody>
      </p:sp>
      <p:sp>
        <p:nvSpPr>
          <p:cNvPr id="49" name="Text 47"/>
          <p:cNvSpPr txBox="1"/>
          <p:nvPr/>
        </p:nvSpPr>
        <p:spPr>
          <a:xfrm>
            <a:off x="7818120" y="378561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A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2/10 五 19:30 Kutaisi</a:t>
            </a:r>
            <a:endParaRPr lang="en-US" sz="850" dirty="0"/>
          </a:p>
        </p:txBody>
      </p:sp>
      <p:sp>
        <p:nvSpPr>
          <p:cNvPr id="50" name="Text 48"/>
          <p:cNvSpPr txBox="1"/>
          <p:nvPr/>
        </p:nvSpPr>
        <p:spPr>
          <a:xfrm>
            <a:off x="7635240" y="4169664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其餘餐廳 walk-in 就得 — 詳情見 PDF《預約清單》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出發前 TO-DO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50976"/>
            <a:ext cx="8778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ACTION LIST · 按死線排序</a:t>
            </a:r>
            <a:endParaRPr lang="en-US" sz="12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08176"/>
          <a:ext cx="75895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240280"/>
                <a:gridCol w="1554480"/>
                <a:gridCol w="777240"/>
                <a:gridCol w="2103120"/>
              </a:tblGrid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D3B3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死線</a:t>
                      </a:r>
                      <a:endParaRPr lang="en-US" sz="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D3B3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事項</a:t>
                      </a:r>
                      <a:endParaRPr lang="en-US" sz="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D3B3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點做</a:t>
                      </a:r>
                      <a:endParaRPr lang="en-US" sz="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D3B3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價</a:t>
                      </a:r>
                      <a:endParaRPr lang="en-US" sz="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D3B3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備註</a:t>
                      </a:r>
                      <a:endParaRPr lang="en-US" sz="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🔴 即刻</a:t>
                      </a:r>
                      <a:endParaRPr lang="en-US" sz="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覆 Slava 改租車期 29 Sep–6 Oct</a:t>
                      </a:r>
                      <a:endParaRPr lang="en-US" sz="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email</a:t>
                      </a:r>
                      <a:endParaRPr lang="en-US" sz="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講明唔過境，慳 250 GEL×2</a:t>
                      </a:r>
                      <a:endParaRPr lang="en-US" sz="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🔴 即刻</a:t>
                      </a:r>
                      <a:endParaRPr lang="en-US" sz="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訂 GoTrip 包車（7/10 Tbilisi→Yerevan）</a:t>
                      </a:r>
                      <a:endParaRPr lang="en-US" sz="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gotrip.ge</a:t>
                      </a:r>
                      <a:endParaRPr lang="en-US" sz="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US$150–300</a:t>
                      </a:r>
                      <a:endParaRPr lang="en-US" sz="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要停 Debed 三修道院 — 最後一項交通</a:t>
                      </a:r>
                      <a:endParaRPr lang="en-US" sz="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✅ 已訂</a:t>
                      </a:r>
                      <a:endParaRPr lang="en-US" sz="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Schuchmann 酒浴 SPA 1/10 18:00–19:00</a:t>
                      </a:r>
                      <a:endParaRPr lang="en-US" sz="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已訂</a:t>
                      </a:r>
                      <a:endParaRPr lang="en-US" sz="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355 GEL/90分</a:t>
                      </a:r>
                      <a:endParaRPr lang="en-US" sz="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同酒莊講晚餐 19:30 開</a:t>
                      </a:r>
                      <a:endParaRPr lang="en-US" sz="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🔴 即刻</a:t>
                      </a:r>
                      <a:endParaRPr lang="en-US" sz="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Email 多哈酒店確認 01:00 夜到</a:t>
                      </a:r>
                      <a:endParaRPr lang="en-US" sz="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+974 4428 7888 · 引用 Q878Z4FG</a:t>
                      </a:r>
                      <a:endParaRPr lang="en-US" sz="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核實 check-in 日期係 26/9 唔係 27/9</a:t>
                      </a:r>
                      <a:endParaRPr lang="en-US" sz="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🔴 即刻</a:t>
                      </a:r>
                      <a:endParaRPr lang="en-US" sz="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WhatsApp「Unique Home」約 01:30 夜間自助 check-in</a:t>
                      </a:r>
                      <a:endParaRPr lang="en-US" sz="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Booking 訊息</a:t>
                      </a:r>
                      <a:endParaRPr lang="en-US" sz="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私人公寓冇前台，唔約好 03:00 入唔到</a:t>
                      </a:r>
                      <a:endParaRPr lang="en-US" sz="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🔴 即刻</a:t>
                      </a:r>
                      <a:endParaRPr lang="en-US" sz="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訂雙子塔 Skybridge 時段（26/9 約 11:00）</a:t>
                      </a:r>
                      <a:endParaRPr lang="en-US" sz="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eticket.petronastwintowers.com.my</a:t>
                      </a:r>
                      <a:endParaRPr lang="en-US" sz="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RM98 ×2</a:t>
                      </a:r>
                      <a:endParaRPr lang="en-US" sz="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週六位早清</a:t>
                      </a:r>
                      <a:endParaRPr lang="en-US" sz="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🟠 2週內</a:t>
                      </a:r>
                      <a:endParaRPr lang="en-US" sz="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IDP ×2 + 電單車保險</a:t>
                      </a:r>
                      <a:endParaRPr lang="en-US" sz="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運輸署／保險公司</a:t>
                      </a:r>
                      <a:endParaRPr lang="en-US" sz="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HKD80 ×2</a:t>
                      </a:r>
                      <a:endParaRPr lang="en-US" sz="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保險要明確保 &gt;125cc</a:t>
                      </a:r>
                      <a:endParaRPr lang="en-US" sz="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🟡 3–4週</a:t>
                      </a:r>
                      <a:endParaRPr lang="en-US" sz="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Barbarestan（9/10 告別晚餐）</a:t>
                      </a:r>
                      <a:endParaRPr lang="en-US" sz="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電話／IG</a:t>
                      </a:r>
                      <a:endParaRPr lang="en-US" sz="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100–150 GEL/人</a:t>
                      </a:r>
                      <a:endParaRPr lang="en-US" sz="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全城最難訂</a:t>
                      </a:r>
                      <a:endParaRPr lang="en-US" sz="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✅ 已訂</a:t>
                      </a:r>
                      <a:endParaRPr lang="en-US" sz="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Jiwan @ NMoQ 27/9 13:00 · 2 位</a:t>
                      </a:r>
                      <a:endParaRPr lang="en-US" sz="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已訂</a:t>
                      </a:r>
                      <a:endParaRPr lang="en-US" sz="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QAR 100 set</a:t>
                      </a:r>
                      <a:endParaRPr lang="en-US" sz="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米芝蓮必比登</a:t>
                      </a:r>
                      <a:endParaRPr lang="en-US" sz="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🟡 3–4週</a:t>
                      </a:r>
                      <a:endParaRPr lang="en-US" sz="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Dolmama（8/10 Yerevan）</a:t>
                      </a:r>
                      <a:endParaRPr lang="en-US" sz="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dolmamarestaurant.com</a:t>
                      </a:r>
                      <a:endParaRPr lang="en-US" sz="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25–40k AMD</a:t>
                      </a:r>
                      <a:endParaRPr lang="en-US" sz="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要庭院位</a:t>
                      </a:r>
                      <a:endParaRPr lang="en-US" sz="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✅ 已訂</a:t>
                      </a:r>
                      <a:endParaRPr lang="en-US" sz="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Maisi 29/9 19:30 · Palaty 2/10 19:30</a:t>
                      </a:r>
                      <a:endParaRPr lang="en-US" sz="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已訂</a:t>
                      </a:r>
                      <a:endParaRPr lang="en-US" sz="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Barbarestan 9/10 亦已訂</a:t>
                      </a:r>
                      <a:endParaRPr lang="en-US" sz="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🟢 1–2週</a:t>
                      </a:r>
                      <a:endParaRPr lang="en-US" sz="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Lavash（7/10 Yerevan）</a:t>
                      </a:r>
                      <a:endParaRPr lang="en-US" sz="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+374 10 608800</a:t>
                      </a:r>
                      <a:endParaRPr lang="en-US" sz="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12–20k AMD</a:t>
                      </a:r>
                      <a:endParaRPr lang="en-US" sz="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平日 1 日前夠</a:t>
                      </a:r>
                      <a:endParaRPr lang="en-US" sz="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🟢 1–2週</a:t>
                      </a:r>
                      <a:endParaRPr lang="en-US" sz="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Chreli-Abano 硫磺浴（9/10）</a:t>
                      </a:r>
                      <a:endParaRPr lang="en-US" sz="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booking.chreli-abano.ge</a:t>
                      </a:r>
                      <a:endParaRPr lang="en-US" sz="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120–200 GEL/房/鐘</a:t>
                      </a:r>
                      <a:endParaRPr lang="en-US" sz="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兩人分</a:t>
                      </a:r>
                      <a:endParaRPr lang="en-US" sz="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🔵 1週前</a:t>
                      </a:r>
                      <a:endParaRPr lang="en-US" sz="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Cafe Laila（3/10 Mestia）+ 全面重confirm</a:t>
                      </a:r>
                      <a:endParaRPr lang="en-US" sz="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+995 577 577 677</a:t>
                      </a:r>
                      <a:endParaRPr lang="en-US" sz="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Laila 只收現金</a:t>
                      </a:r>
                      <a:endParaRPr lang="en-US" sz="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🔵 1週前</a:t>
                      </a:r>
                      <a:endParaRPr lang="en-US" sz="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問 R&amp;R Hotel 9/10 朝機場接送</a:t>
                      </a:r>
                      <a:endParaRPr lang="en-US" sz="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Trip.com／酒店</a:t>
                      </a:r>
                      <a:endParaRPr lang="en-US" sz="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33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09:30 到 EVN</a:t>
                      </a:r>
                      <a:endParaRPr lang="en-US" sz="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" name="Image 0" descr="/home/user/geogria/tools/pdfbuild/img/ge_enguri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321040" y="1408176"/>
            <a:ext cx="3319272" cy="1828800"/>
          </a:xfrm>
          <a:prstGeom prst="rect">
            <a:avLst/>
          </a:prstGeom>
          <a:effectLst>
            <a:outerShdw sx="100000" sy="100000" kx="0" ky="0" algn="bl" rotWithShape="0" blurRad="127000" dist="25400" dir="5400000">
              <a:srgbClr val="000000">
                <a:alpha val="20000"/>
              </a:srgbClr>
            </a:outerShdw>
          </a:effectLst>
        </p:spPr>
      </p:pic>
      <p:sp>
        <p:nvSpPr>
          <p:cNvPr id="6" name="Text 2"/>
          <p:cNvSpPr txBox="1"/>
          <p:nvPr/>
        </p:nvSpPr>
        <p:spPr>
          <a:xfrm>
            <a:off x="8321040" y="3273552"/>
            <a:ext cx="3319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B7A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📷 Enguri 水壩（751m 拱壩）（Gaga.vaa · CC BY-SA 4.0）</a:t>
            </a:r>
            <a:endParaRPr lang="en-US" sz="700" dirty="0"/>
          </a:p>
        </p:txBody>
      </p:sp>
      <p:sp>
        <p:nvSpPr>
          <p:cNvPr id="7" name="Shape 3"/>
          <p:cNvSpPr/>
          <p:nvPr/>
        </p:nvSpPr>
        <p:spPr>
          <a:xfrm>
            <a:off x="8321040" y="3529584"/>
            <a:ext cx="3319272" cy="2651760"/>
          </a:xfrm>
          <a:prstGeom prst="roundRect">
            <a:avLst>
              <a:gd name="adj" fmla="val 2759"/>
            </a:avLst>
          </a:prstGeom>
          <a:solidFill>
            <a:srgbClr val="EEF2F0"/>
          </a:solidFill>
          <a:ln w="12700">
            <a:solidFill>
              <a:srgbClr val="C9DACF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8522208" y="36758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📄 證件 · 保險 · 現金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8522208" y="402336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233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IDP 國際駕駛許可證 ×2（要有 A 類電單車）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233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電單車旅遊保 ×2 — 必須保 &gt;125cc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233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護照有效期到 2027 年 4 月後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233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€1,700 押金（€850 × 2）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233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Mestia 撳定 400–600 GEL 現金（Ushguli 冇 ATM）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D3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實用資料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509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50" kern="0" dirty="0">
                <a:solidFill>
                  <a:srgbClr val="D59A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PRACTICAL</a:t>
            </a:r>
            <a:endParaRPr lang="en-US" sz="11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94415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9357055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緊急電話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C5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C5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C5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C5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B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5E0D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格魯吉亞 112（英語可）· 亞美尼亞 911／112 · 卡塔爾 999 · 馬來西亞 999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C5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C5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C5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C5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B3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貨幣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C5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C5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C5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C5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B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5E0D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 GEL≈HK$2.9 · 1 AMD≈HK$0.02 · QAR 1≈HK$2.1 · RM 1≈HK$1.8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C5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C5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C5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C5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B3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現金重點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C5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C5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C5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C5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B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5E0D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Ushguli 全村冇 ATM、只收現金 → Mestia 撳定 400–600 GEL/人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C5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C5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C5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C5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B3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電壓插頭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C5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C5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C5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C5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B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5E0D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格／亞：220V 歐式圓腳 C/F · 卡塔爾：240V 英式 G · 馬來西亞：240V G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C5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C5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C5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C5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B3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SIM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C5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C5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C5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C5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B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5E0D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第比利斯機場 Magti 15 GEL/5GB · 亞美尼亞 Ucom／Team · 多哈用漫遊或 eSIM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C5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C5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C5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C5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B3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罰單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C5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C5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C5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C5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B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5E0D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格魯吉亞天眼為主，唔會現場收現金 → video.police.ge 查同交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C5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C5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C5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C5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B3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🔴 導航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C5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C5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C5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C5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B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5E0D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Zagari 山口段 Google Maps 係壞嘅：會俾 298–400km／8–10 小時，實際 73km／2 小時。用離線 GPX／Organic Maps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C5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C5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C5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C5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B3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道路 2025–26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C5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C5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C5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C5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B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5E0D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Rikoti 高速（第比利斯–Kutaisi）2025年12月全線通車，51 條隧道 — 比舊資料快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C5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C5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C5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C5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B3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騎行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C5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C5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C5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C5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B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5E0D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日落 18:30 前埋站 · 牛／羊群隨時封路 · 盲彎有車爬頭 · 唔好夜騎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C5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C5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C5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C5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B3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酒駕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C5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C5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C5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C5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B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5E0D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格魯吉亞 0.03%（≈一杯已中），罰 700 GEL 起 → 品酒只安排喺過夜點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C5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C5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C5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C5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B3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🚕 叫車 app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C5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C5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C5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C5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B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5E0D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第比利斯／Kutaisi：Bolt（最多車）+ Yandex Go · Gori／Telavi：Bolt 有但車少 · Kazbegi：Bolt 名單有但實際極少，用廣場（Kazbegi 像對面停車場）／巴士站的士或叫酒店約司機，鎮內開價 10–12 GEL 可講到 8 · Mestia／Ushguli：冇 app，靠民宿 · 耶烈萬：GG（本地龍頭）+ Yandex Go（高峰加價）· 全部現金為主，上車前講定價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C5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C5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C5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C5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B34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742432"/>
            <a:ext cx="11094415" cy="749808"/>
          </a:xfrm>
          <a:prstGeom prst="roundRect">
            <a:avLst>
              <a:gd name="adj" fmla="val 9756"/>
            </a:avLst>
          </a:prstGeom>
          <a:solidFill>
            <a:srgbClr val="5B3A1E"/>
          </a:solidFill>
          <a:ln w="12700">
            <a:solidFill>
              <a:srgbClr val="8A4D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5742432"/>
            <a:ext cx="1054577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E3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💵 只收現金：Ushguli 全村 · Cafe Laila（Mestia）· Bikentia's（Kutaisi）· Nunu's（Lentekhi）· Zugdidi 巴刹 · Dry Bridge 市集 · Garni 小檔 · 多哈街邊 karak · KL 小販檔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相片來源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50976"/>
            <a:ext cx="8778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PHOTO CREDITS · 全部真實 Creative Commons 授權相（Flickr 經 Openverse／Wikimedia Commons）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1790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Cascade 階梯 · 耶烈萬　</a:t>
            </a:r>
            <a:pPr indent="0" marL="0">
              <a:buNone/>
            </a:pPr>
            <a:r>
              <a:rPr lang="en-US" sz="750" dirty="0">
                <a:solidFill>
                  <a:srgbClr val="6B7A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Arthur Chapman · CC BY 2.0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5623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Garni 神殿　</a:t>
            </a:r>
            <a:pPr indent="0" marL="0">
              <a:buNone/>
            </a:pPr>
            <a:r>
              <a:rPr lang="en-US" sz="750" dirty="0">
                <a:solidFill>
                  <a:srgbClr val="6B7A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D-Stanley · CC BY 2.0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9456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Geghard 岩鑿修道院（UNESCO）　</a:t>
            </a:r>
            <a:pPr indent="0" marL="0">
              <a:buNone/>
            </a:pPr>
            <a:r>
              <a:rPr lang="en-US" sz="750" dirty="0">
                <a:solidFill>
                  <a:srgbClr val="6B7A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oksidor · CC BY 2.0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53288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Haghpat 修道院（UNESCO）· Debed 峽谷　</a:t>
            </a:r>
            <a:pPr indent="0" marL="0">
              <a:buNone/>
            </a:pPr>
            <a:r>
              <a:rPr lang="en-US" sz="750" dirty="0">
                <a:solidFill>
                  <a:srgbClr val="6B7A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Arian Zwegers · CC BY 2.0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87121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Khor Virap + Ararat 山　</a:t>
            </a:r>
            <a:pPr indent="0" marL="0">
              <a:buNone/>
            </a:pPr>
            <a:r>
              <a:rPr lang="en-US" sz="750" dirty="0">
                <a:solidFill>
                  <a:srgbClr val="6B7A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Old Pionear · CC BY-SA 4.0</a:t>
            </a:r>
            <a:endParaRPr lang="en-US" sz="7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20954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Matenadaran 古手稿館 · 耶烈萬　</a:t>
            </a:r>
            <a:pPr indent="0" marL="0">
              <a:buNone/>
            </a:pPr>
            <a:r>
              <a:rPr lang="en-US" sz="750" dirty="0">
                <a:solidFill>
                  <a:srgbClr val="6B7A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Arthur Chapman · CC BY 2.0</a:t>
            </a:r>
            <a:endParaRPr lang="en-US" sz="7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54787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共和國廣場 · 耶烈萬　</a:t>
            </a:r>
            <a:pPr indent="0" marL="0">
              <a:buNone/>
            </a:pPr>
            <a:r>
              <a:rPr lang="en-US" sz="750" dirty="0">
                <a:solidFill>
                  <a:srgbClr val="6B7A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Arthur Chapman · CC BY 2.0</a:t>
            </a:r>
            <a:endParaRPr lang="en-US" sz="7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88620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Sanahin 修道院（UNESCO）　</a:t>
            </a:r>
            <a:pPr indent="0" marL="0">
              <a:buNone/>
            </a:pPr>
            <a:r>
              <a:rPr lang="en-US" sz="750" dirty="0">
                <a:solidFill>
                  <a:srgbClr val="6B7A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hercegnovi · CC BY 2.0</a:t>
            </a:r>
            <a:endParaRPr lang="en-US" sz="7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22452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伊斯蘭藝術博物館 MIA · 多哈　</a:t>
            </a:r>
            <a:pPr indent="0" marL="0">
              <a:buNone/>
            </a:pPr>
            <a:r>
              <a:rPr lang="en-US" sz="750" dirty="0">
                <a:solidFill>
                  <a:srgbClr val="6B7A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jemasmith · CC BY 2.0</a:t>
            </a:r>
            <a:endParaRPr lang="en-US" sz="7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56285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卡塔爾國家博物館「沙漠玫瑰」· 多哈　</a:t>
            </a:r>
            <a:pPr indent="0" marL="0">
              <a:buNone/>
            </a:pPr>
            <a:r>
              <a:rPr lang="en-US" sz="750" dirty="0">
                <a:solidFill>
                  <a:srgbClr val="6B7A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young shanahan · CC BY 2.0</a:t>
            </a:r>
            <a:endParaRPr lang="en-US" sz="7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90118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Souq Waqif 老市集 · 多哈　</a:t>
            </a:r>
            <a:pPr indent="0" marL="0">
              <a:buNone/>
            </a:pPr>
            <a:r>
              <a:rPr lang="en-US" sz="750" dirty="0">
                <a:solidFill>
                  <a:srgbClr val="6B7A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jemasmith · CC BY 2.0</a:t>
            </a:r>
            <a:endParaRPr lang="en-US" sz="7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23951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Al Wakra 海濱老市集 · 多哈　</a:t>
            </a:r>
            <a:pPr indent="0" marL="0">
              <a:buNone/>
            </a:pPr>
            <a:r>
              <a:rPr lang="en-US" sz="750" dirty="0">
                <a:solidFill>
                  <a:srgbClr val="6B7A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Mohamod Fasil · CC BY 2.0</a:t>
            </a:r>
            <a:endParaRPr lang="en-US" sz="7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57784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Abanotubani 硫磺浴區 · 第比利斯　</a:t>
            </a:r>
            <a:pPr indent="0" marL="0">
              <a:buNone/>
            </a:pPr>
            <a:r>
              <a:rPr lang="en-US" sz="750" dirty="0">
                <a:solidFill>
                  <a:srgbClr val="6B7A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Marcin Konsek · CC BY-SA 4.0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4389120" y="151790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Ananuri 城堡 · 軍事公路　</a:t>
            </a:r>
            <a:pPr indent="0" marL="0">
              <a:buNone/>
            </a:pPr>
            <a:r>
              <a:rPr lang="en-US" sz="750" dirty="0">
                <a:solidFill>
                  <a:srgbClr val="6B7A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Randy Shan · CC BY-SA 2.0</a:t>
            </a:r>
            <a:endParaRPr lang="en-US" sz="750" dirty="0"/>
          </a:p>
        </p:txBody>
      </p:sp>
      <p:sp>
        <p:nvSpPr>
          <p:cNvPr id="18" name="Text 16"/>
          <p:cNvSpPr txBox="1"/>
          <p:nvPr/>
        </p:nvSpPr>
        <p:spPr>
          <a:xfrm>
            <a:off x="4389120" y="185623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Bagrati 大教堂 · 庫塔伊西　</a:t>
            </a:r>
            <a:pPr indent="0" marL="0">
              <a:buNone/>
            </a:pPr>
            <a:r>
              <a:rPr lang="en-US" sz="750" dirty="0">
                <a:solidFill>
                  <a:srgbClr val="6B7A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rost8668 · CC BY-SA 2.0</a:t>
            </a:r>
            <a:endParaRPr lang="en-US" sz="750" dirty="0"/>
          </a:p>
        </p:txBody>
      </p:sp>
      <p:sp>
        <p:nvSpPr>
          <p:cNvPr id="19" name="Text 17"/>
          <p:cNvSpPr txBox="1"/>
          <p:nvPr/>
        </p:nvSpPr>
        <p:spPr>
          <a:xfrm>
            <a:off x="4389120" y="219456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Chiatura 蘇聯纜車　</a:t>
            </a:r>
            <a:pPr indent="0" marL="0">
              <a:buNone/>
            </a:pPr>
            <a:r>
              <a:rPr lang="en-US" sz="750" dirty="0">
                <a:solidFill>
                  <a:srgbClr val="6B7A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VicunaR · CC BY-SA 2.0</a:t>
            </a:r>
            <a:endParaRPr lang="en-US" sz="750" dirty="0"/>
          </a:p>
        </p:txBody>
      </p:sp>
      <p:sp>
        <p:nvSpPr>
          <p:cNvPr id="20" name="Text 18"/>
          <p:cNvSpPr txBox="1"/>
          <p:nvPr/>
        </p:nvSpPr>
        <p:spPr>
          <a:xfrm>
            <a:off x="4389120" y="253288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Dariali 峽谷 · 近俄邊境　</a:t>
            </a:r>
            <a:pPr indent="0" marL="0">
              <a:buNone/>
            </a:pPr>
            <a:r>
              <a:rPr lang="en-US" sz="750" dirty="0">
                <a:solidFill>
                  <a:srgbClr val="6B7A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Kober · CC BY 2.0</a:t>
            </a:r>
            <a:endParaRPr lang="en-US" sz="750" dirty="0"/>
          </a:p>
        </p:txBody>
      </p:sp>
      <p:sp>
        <p:nvSpPr>
          <p:cNvPr id="21" name="Text 19"/>
          <p:cNvSpPr txBox="1"/>
          <p:nvPr/>
        </p:nvSpPr>
        <p:spPr>
          <a:xfrm>
            <a:off x="4389120" y="287121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Enguri 水壩（751m 拱壩）　</a:t>
            </a:r>
            <a:pPr indent="0" marL="0">
              <a:buNone/>
            </a:pPr>
            <a:r>
              <a:rPr lang="en-US" sz="750" dirty="0">
                <a:solidFill>
                  <a:srgbClr val="6B7A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Gaga.vaa · CC BY-SA 4.0</a:t>
            </a:r>
            <a:endParaRPr lang="en-US" sz="750" dirty="0"/>
          </a:p>
        </p:txBody>
      </p:sp>
      <p:sp>
        <p:nvSpPr>
          <p:cNvPr id="22" name="Text 20"/>
          <p:cNvSpPr txBox="1"/>
          <p:nvPr/>
        </p:nvSpPr>
        <p:spPr>
          <a:xfrm>
            <a:off x="4389120" y="320954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Fabrika · 第比利斯 Chugureti　</a:t>
            </a:r>
            <a:pPr indent="0" marL="0">
              <a:buNone/>
            </a:pPr>
            <a:r>
              <a:rPr lang="en-US" sz="750" dirty="0">
                <a:solidFill>
                  <a:srgbClr val="6B7A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Aleksandr Zykov · CC BY-SA 2.0</a:t>
            </a:r>
            <a:endParaRPr lang="en-US" sz="750" dirty="0"/>
          </a:p>
        </p:txBody>
      </p:sp>
      <p:sp>
        <p:nvSpPr>
          <p:cNvPr id="23" name="Text 21"/>
          <p:cNvSpPr txBox="1"/>
          <p:nvPr/>
        </p:nvSpPr>
        <p:spPr>
          <a:xfrm>
            <a:off x="4389120" y="354787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Gelati 修道院（UNESCO）　</a:t>
            </a:r>
            <a:pPr indent="0" marL="0">
              <a:buNone/>
            </a:pPr>
            <a:r>
              <a:rPr lang="en-US" sz="750" dirty="0">
                <a:solidFill>
                  <a:srgbClr val="6B7A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rost8668 · CC BY-SA 2.0</a:t>
            </a:r>
            <a:endParaRPr lang="en-US" sz="750" dirty="0"/>
          </a:p>
        </p:txBody>
      </p:sp>
      <p:sp>
        <p:nvSpPr>
          <p:cNvPr id="24" name="Text 22"/>
          <p:cNvSpPr txBox="1"/>
          <p:nvPr/>
        </p:nvSpPr>
        <p:spPr>
          <a:xfrm>
            <a:off x="4389120" y="388620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Gergeti 三一教堂 + Kazbek 山　</a:t>
            </a:r>
            <a:pPr indent="0" marL="0">
              <a:buNone/>
            </a:pPr>
            <a:r>
              <a:rPr lang="en-US" sz="750" dirty="0">
                <a:solidFill>
                  <a:srgbClr val="6B7A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Geo Max · CC BY-SA 2.0</a:t>
            </a:r>
            <a:endParaRPr lang="en-US" sz="750" dirty="0"/>
          </a:p>
        </p:txBody>
      </p:sp>
      <p:sp>
        <p:nvSpPr>
          <p:cNvPr id="25" name="Text 23"/>
          <p:cNvSpPr txBox="1"/>
          <p:nvPr/>
        </p:nvSpPr>
        <p:spPr>
          <a:xfrm>
            <a:off x="4389120" y="422452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史太林博物館 · Gori　</a:t>
            </a:r>
            <a:pPr indent="0" marL="0">
              <a:buNone/>
            </a:pPr>
            <a:r>
              <a:rPr lang="en-US" sz="750" dirty="0">
                <a:solidFill>
                  <a:srgbClr val="6B7A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luigig · CC BY 2.0</a:t>
            </a:r>
            <a:endParaRPr lang="en-US" sz="750" dirty="0"/>
          </a:p>
        </p:txBody>
      </p:sp>
      <p:sp>
        <p:nvSpPr>
          <p:cNvPr id="26" name="Text 24"/>
          <p:cNvSpPr txBox="1"/>
          <p:nvPr/>
        </p:nvSpPr>
        <p:spPr>
          <a:xfrm>
            <a:off x="4389120" y="456285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Jvari 修道院 · Mtskheta　</a:t>
            </a:r>
            <a:pPr indent="0" marL="0">
              <a:buNone/>
            </a:pPr>
            <a:r>
              <a:rPr lang="en-US" sz="750" dirty="0">
                <a:solidFill>
                  <a:srgbClr val="6B7A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cat_collector · CC BY 2.0</a:t>
            </a:r>
            <a:endParaRPr lang="en-US" sz="750" dirty="0"/>
          </a:p>
        </p:txBody>
      </p:sp>
      <p:sp>
        <p:nvSpPr>
          <p:cNvPr id="27" name="Text 25"/>
          <p:cNvSpPr txBox="1"/>
          <p:nvPr/>
        </p:nvSpPr>
        <p:spPr>
          <a:xfrm>
            <a:off x="4389120" y="490118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卡赫季 Kakheti 葡萄園　</a:t>
            </a:r>
            <a:pPr indent="0" marL="0">
              <a:buNone/>
            </a:pPr>
            <a:r>
              <a:rPr lang="en-US" sz="750" dirty="0">
                <a:solidFill>
                  <a:srgbClr val="6B7A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Andrei Kalamkarov (www.andreikalamkarov.com) · CC BY-SA 2.0</a:t>
            </a:r>
            <a:endParaRPr lang="en-US" sz="750" dirty="0"/>
          </a:p>
        </p:txBody>
      </p:sp>
      <p:sp>
        <p:nvSpPr>
          <p:cNvPr id="28" name="Text 26"/>
          <p:cNvSpPr txBox="1"/>
          <p:nvPr/>
        </p:nvSpPr>
        <p:spPr>
          <a:xfrm>
            <a:off x="4389120" y="523951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Katskhi 石柱　</a:t>
            </a:r>
            <a:pPr indent="0" marL="0">
              <a:buNone/>
            </a:pPr>
            <a:r>
              <a:rPr lang="en-US" sz="750" dirty="0">
                <a:solidFill>
                  <a:srgbClr val="6B7A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Levan Nioradze · CC BY-SA 2.0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4389120" y="557784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Kazbek 山（5,054m）　</a:t>
            </a:r>
            <a:pPr indent="0" marL="0">
              <a:buNone/>
            </a:pPr>
            <a:r>
              <a:rPr lang="en-US" sz="750" dirty="0">
                <a:solidFill>
                  <a:srgbClr val="6B7A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Geo Max · CC BY-SA 2.0</a:t>
            </a:r>
            <a:endParaRPr lang="en-US" sz="75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151790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Mestia 斯凡塔樓　</a:t>
            </a:r>
            <a:pPr indent="0" marL="0">
              <a:buNone/>
            </a:pPr>
            <a:r>
              <a:rPr lang="en-US" sz="750" dirty="0">
                <a:solidFill>
                  <a:srgbClr val="6B7A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Arian Zwegers · CC BY 2.0</a:t>
            </a:r>
            <a:endParaRPr lang="en-US" sz="75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185623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Shkhara 山（5,193m）· 格魯吉亞最高峰　</a:t>
            </a:r>
            <a:pPr indent="0" marL="0">
              <a:buNone/>
            </a:pPr>
            <a:r>
              <a:rPr lang="en-US" sz="750" dirty="0">
                <a:solidFill>
                  <a:srgbClr val="6B7A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Aleksey Muhranoff · CC BY-SA 3.0</a:t>
            </a:r>
            <a:endParaRPr lang="en-US" sz="750" dirty="0"/>
          </a:p>
        </p:txBody>
      </p:sp>
      <p:sp>
        <p:nvSpPr>
          <p:cNvPr id="32" name="Text 30"/>
          <p:cNvSpPr txBox="1"/>
          <p:nvPr/>
        </p:nvSpPr>
        <p:spPr>
          <a:xfrm>
            <a:off x="8229600" y="219456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Svetitskhoveli 大教堂 · Mtskheta　</a:t>
            </a:r>
            <a:pPr indent="0" marL="0">
              <a:buNone/>
            </a:pPr>
            <a:r>
              <a:rPr lang="en-US" sz="750" dirty="0">
                <a:solidFill>
                  <a:srgbClr val="6B7A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svani1 · CC BY-SA 2.0</a:t>
            </a:r>
            <a:endParaRPr lang="en-US" sz="750" dirty="0"/>
          </a:p>
        </p:txBody>
      </p:sp>
      <p:sp>
        <p:nvSpPr>
          <p:cNvPr id="33" name="Text 31"/>
          <p:cNvSpPr txBox="1"/>
          <p:nvPr/>
        </p:nvSpPr>
        <p:spPr>
          <a:xfrm>
            <a:off x="8229600" y="253288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第比利斯老城 · Narikala 城堡望落去　</a:t>
            </a:r>
            <a:pPr indent="0" marL="0">
              <a:buNone/>
            </a:pPr>
            <a:r>
              <a:rPr lang="en-US" sz="750" dirty="0">
                <a:solidFill>
                  <a:srgbClr val="6B7A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young shanahan · CC BY 2.0</a:t>
            </a:r>
            <a:endParaRPr lang="en-US" sz="750" dirty="0"/>
          </a:p>
        </p:txBody>
      </p:sp>
      <p:sp>
        <p:nvSpPr>
          <p:cNvPr id="34" name="Text 32"/>
          <p:cNvSpPr txBox="1"/>
          <p:nvPr/>
        </p:nvSpPr>
        <p:spPr>
          <a:xfrm>
            <a:off x="8229600" y="287121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Truso 山谷　</a:t>
            </a:r>
            <a:pPr indent="0" marL="0">
              <a:buNone/>
            </a:pPr>
            <a:r>
              <a:rPr lang="en-US" sz="750" dirty="0">
                <a:solidFill>
                  <a:srgbClr val="6B7A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Shalika999 · CC BY 2.0</a:t>
            </a:r>
            <a:endParaRPr lang="en-US" sz="750" dirty="0"/>
          </a:p>
        </p:txBody>
      </p:sp>
      <p:sp>
        <p:nvSpPr>
          <p:cNvPr id="35" name="Text 33"/>
          <p:cNvSpPr txBox="1"/>
          <p:nvPr/>
        </p:nvSpPr>
        <p:spPr>
          <a:xfrm>
            <a:off x="8229600" y="320954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Tsinandali 莊園 · 卡赫季　</a:t>
            </a:r>
            <a:pPr indent="0" marL="0">
              <a:buNone/>
            </a:pPr>
            <a:r>
              <a:rPr lang="en-US" sz="750" dirty="0">
                <a:solidFill>
                  <a:srgbClr val="6B7A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Adam Jones, Ph.D. - Global Photo Archive · CC BY 2.0</a:t>
            </a:r>
            <a:endParaRPr lang="en-US" sz="750" dirty="0"/>
          </a:p>
        </p:txBody>
      </p:sp>
      <p:sp>
        <p:nvSpPr>
          <p:cNvPr id="36" name="Text 34"/>
          <p:cNvSpPr txBox="1"/>
          <p:nvPr/>
        </p:nvSpPr>
        <p:spPr>
          <a:xfrm>
            <a:off x="8229600" y="354787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Uplistsikhe 岩洞古城　</a:t>
            </a:r>
            <a:pPr indent="0" marL="0">
              <a:buNone/>
            </a:pPr>
            <a:r>
              <a:rPr lang="en-US" sz="750" dirty="0">
                <a:solidFill>
                  <a:srgbClr val="6B7A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Supanut Arunoprayote · CC BY 4.0</a:t>
            </a:r>
            <a:endParaRPr lang="en-US" sz="750" dirty="0"/>
          </a:p>
        </p:txBody>
      </p:sp>
      <p:sp>
        <p:nvSpPr>
          <p:cNvPr id="37" name="Text 35"/>
          <p:cNvSpPr txBox="1"/>
          <p:nvPr/>
        </p:nvSpPr>
        <p:spPr>
          <a:xfrm>
            <a:off x="8229600" y="388620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Ushguli · 歐洲最高常住村　</a:t>
            </a:r>
            <a:pPr indent="0" marL="0">
              <a:buNone/>
            </a:pPr>
            <a:r>
              <a:rPr lang="en-US" sz="750" dirty="0">
                <a:solidFill>
                  <a:srgbClr val="6B7A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Gytis Liutkus · CC BY 2.0</a:t>
            </a:r>
            <a:endParaRPr lang="en-US" sz="750" dirty="0"/>
          </a:p>
        </p:txBody>
      </p:sp>
      <p:sp>
        <p:nvSpPr>
          <p:cNvPr id="38" name="Text 36"/>
          <p:cNvSpPr txBox="1"/>
          <p:nvPr/>
        </p:nvSpPr>
        <p:spPr>
          <a:xfrm>
            <a:off x="8229600" y="422452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Zagari 山口（2,620m）　</a:t>
            </a:r>
            <a:pPr indent="0" marL="0">
              <a:buNone/>
            </a:pPr>
            <a:r>
              <a:rPr lang="en-US" sz="750" dirty="0">
                <a:solidFill>
                  <a:srgbClr val="6B7A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Gytis Liutkus · CC BY 2.0</a:t>
            </a:r>
            <a:endParaRPr lang="en-US" sz="750" dirty="0"/>
          </a:p>
        </p:txBody>
      </p:sp>
      <p:sp>
        <p:nvSpPr>
          <p:cNvPr id="39" name="Text 37"/>
          <p:cNvSpPr txBox="1"/>
          <p:nvPr/>
        </p:nvSpPr>
        <p:spPr>
          <a:xfrm>
            <a:off x="8229600" y="456285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黑風洞 Batu Caves · 吉隆坡　</a:t>
            </a:r>
            <a:pPr indent="0" marL="0">
              <a:buNone/>
            </a:pPr>
            <a:r>
              <a:rPr lang="en-US" sz="750" dirty="0">
                <a:solidFill>
                  <a:srgbClr val="6B7A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Kojach · CC BY 2.0</a:t>
            </a:r>
            <a:endParaRPr lang="en-US" sz="750" dirty="0"/>
          </a:p>
        </p:txBody>
      </p:sp>
      <p:sp>
        <p:nvSpPr>
          <p:cNvPr id="40" name="Text 38"/>
          <p:cNvSpPr txBox="1"/>
          <p:nvPr/>
        </p:nvSpPr>
        <p:spPr>
          <a:xfrm>
            <a:off x="8229600" y="490118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伊斯蘭藝術博物館 IAMM · 吉隆坡　</a:t>
            </a:r>
            <a:pPr indent="0" marL="0">
              <a:buNone/>
            </a:pPr>
            <a:r>
              <a:rPr lang="en-US" sz="750" dirty="0">
                <a:solidFill>
                  <a:srgbClr val="6B7A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Chongkian · CC BY-SA 4.0</a:t>
            </a:r>
            <a:endParaRPr lang="en-US" sz="750" dirty="0"/>
          </a:p>
        </p:txBody>
      </p:sp>
      <p:sp>
        <p:nvSpPr>
          <p:cNvPr id="41" name="Text 39"/>
          <p:cNvSpPr txBox="1"/>
          <p:nvPr/>
        </p:nvSpPr>
        <p:spPr>
          <a:xfrm>
            <a:off x="8229600" y="523951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D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雙子塔 Petronas Twin Towers · 吉隆坡　</a:t>
            </a:r>
            <a:pPr indent="0" marL="0">
              <a:buNone/>
            </a:pPr>
            <a:r>
              <a:rPr lang="en-US" sz="750" dirty="0">
                <a:solidFill>
                  <a:srgbClr val="6B7A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Simon_sees · CC BY 2.0</a:t>
            </a:r>
            <a:endParaRPr lang="en-US" sz="750" dirty="0"/>
          </a:p>
        </p:txBody>
      </p:sp>
      <p:sp>
        <p:nvSpPr>
          <p:cNvPr id="42" name="Text 40"/>
          <p:cNvSpPr txBox="1"/>
          <p:nvPr/>
        </p:nvSpPr>
        <p:spPr>
          <a:xfrm>
            <a:off x="548640" y="62910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本簡報只作私人旅行用途。詳細行程、座標、餐廳同景點見同名 PDF。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格魯吉亞 · 亞美尼亞 電單車之旅 2026</dc:title>
  <dc:subject>PptxGenJS Presentation</dc:subject>
  <dc:creator>King Yip Lo</dc:creator>
  <cp:lastModifiedBy>King Yip Lo</cp:lastModifiedBy>
  <cp:revision>1</cp:revision>
  <dcterms:created xsi:type="dcterms:W3CDTF">2026-09-13T07:36:42Z</dcterms:created>
  <dcterms:modified xsi:type="dcterms:W3CDTF">2026-09-13T07:36:42Z</dcterms:modified>
</cp:coreProperties>
</file>